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numbers 1 to 9: the shopper asks (1), SneakPeek finds products (2), CartUp adds to cart and builds the checkout (3, 4), the shopper approves the exact total (5), GreenLight signs a single-use token (6), PayIt runs 12 checks (7) and asks for the authorization (8), TrackIt creates the order and tells the shopper (9). Only VibeCheck and SneakPeek use the AI model, and only for wording. Payment services are local simulations.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image" Target="../media/image-1-12.png"/><Relationship Id="rId13" Type="http://schemas.openxmlformats.org/officeDocument/2006/relationships/image" Target="../media/image-1-13.png"/><Relationship Id="rId14" Type="http://schemas.openxmlformats.org/officeDocument/2006/relationships/image" Target="../media/image-1-14.png"/><Relationship Id="rId15" Type="http://schemas.openxmlformats.org/officeDocument/2006/relationships/image" Target="../media/image-1-15.png"/><Relationship Id="rId16" Type="http://schemas.openxmlformats.org/officeDocument/2006/relationships/image" Target="../media/image-1-16.png"/><Relationship Id="rId17" Type="http://schemas.openxmlformats.org/officeDocument/2006/relationships/slideLayout" Target="../slideLayouts/slideLayout1.xml"/><Relationship Id="rId18"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8FB"/>
        </a:solidFill>
      </p:bgPr>
    </p:bg>
    <p:spTree>
      <p:nvGrpSpPr>
        <p:cNvPr id="1" name=""/>
        <p:cNvGrpSpPr/>
        <p:nvPr/>
      </p:nvGrpSpPr>
      <p:grpSpPr>
        <a:xfrm>
          <a:off x="0" y="0"/>
          <a:ext cx="0" cy="0"/>
          <a:chOff x="0" y="0"/>
          <a:chExt cx="0" cy="0"/>
        </a:xfrm>
      </p:grpSpPr>
      <p:sp>
        <p:nvSpPr>
          <p:cNvPr id="2" name="Frame"/>
          <p:cNvSpPr/>
          <p:nvPr/>
        </p:nvSpPr>
        <p:spPr>
          <a:xfrm>
            <a:off x="137160" y="109728"/>
            <a:ext cx="11914632" cy="6638544"/>
          </a:xfrm>
          <a:prstGeom prst="roundRect">
            <a:avLst>
              <a:gd name="adj" fmla="val 1653"/>
            </a:avLst>
          </a:prstGeom>
          <a:solidFill>
            <a:srgbClr val="FFFFFF"/>
          </a:solidFill>
          <a:ln w="15875">
            <a:solidFill>
              <a:srgbClr val="1E2761"/>
            </a:solidFill>
            <a:prstDash val="solid"/>
          </a:ln>
        </p:spPr>
      </p:sp>
      <p:sp>
        <p:nvSpPr>
          <p:cNvPr id="3" name="Text 1"/>
          <p:cNvSpPr txBox="1"/>
          <p:nvPr/>
        </p:nvSpPr>
        <p:spPr>
          <a:xfrm>
            <a:off x="274320" y="182880"/>
            <a:ext cx="11640312" cy="420624"/>
          </a:xfrm>
          <a:prstGeom prst="rect">
            <a:avLst/>
          </a:prstGeom>
          <a:noFill/>
          <a:ln/>
        </p:spPr>
        <p:txBody>
          <a:bodyPr wrap="square" lIns="0" tIns="0" rIns="0" bIns="0" rtlCol="0" anchor="t"/>
          <a:lstStyle/>
          <a:p>
            <a:pPr algn="ctr" indent="0" marL="0">
              <a:buNone/>
            </a:pPr>
            <a:r>
              <a:rPr lang="en-US" sz="2600" b="1" dirty="0">
                <a:solidFill>
                  <a:srgbClr val="1E2761"/>
                </a:solidFill>
                <a:latin typeface="Calibri" pitchFamily="34" charset="0"/>
                <a:ea typeface="Calibri" pitchFamily="34" charset="-122"/>
                <a:cs typeface="Calibri" pitchFamily="34" charset="-120"/>
              </a:rPr>
              <a:t>Talkshop Agent Architecture</a:t>
            </a:r>
            <a:endParaRPr lang="en-US" sz="2600" dirty="0"/>
          </a:p>
        </p:txBody>
      </p:sp>
      <p:sp>
        <p:nvSpPr>
          <p:cNvPr id="4" name="Text 2"/>
          <p:cNvSpPr txBox="1"/>
          <p:nvPr/>
        </p:nvSpPr>
        <p:spPr>
          <a:xfrm>
            <a:off x="274320" y="603504"/>
            <a:ext cx="11640312" cy="237744"/>
          </a:xfrm>
          <a:prstGeom prst="rect">
            <a:avLst/>
          </a:prstGeom>
          <a:noFill/>
          <a:ln/>
        </p:spPr>
        <p:txBody>
          <a:bodyPr wrap="square" lIns="0" tIns="0" rIns="0" bIns="0" rtlCol="0" anchor="t"/>
          <a:lstStyle/>
          <a:p>
            <a:pPr algn="ctr" indent="0" marL="0">
              <a:buNone/>
            </a:pPr>
            <a:r>
              <a:rPr lang="en-US" sz="1100" dirty="0">
                <a:solidFill>
                  <a:srgbClr val="5B6475"/>
                </a:solidFill>
                <a:latin typeface="Calibri" pitchFamily="34" charset="0"/>
                <a:ea typeface="Calibri" pitchFamily="34" charset="-122"/>
                <a:cs typeface="Calibri" pitchFamily="34" charset="-120"/>
              </a:rPr>
              <a:t>Example: a shopper asks Talkshop for running shoes and buys them from ShopSphere, step by step</a:t>
            </a:r>
            <a:endParaRPr lang="en-US" sz="1100" dirty="0"/>
          </a:p>
        </p:txBody>
      </p:sp>
      <p:sp>
        <p:nvSpPr>
          <p:cNvPr id="5" name="Shopper panel"/>
          <p:cNvSpPr/>
          <p:nvPr/>
        </p:nvSpPr>
        <p:spPr>
          <a:xfrm>
            <a:off x="274320" y="914400"/>
            <a:ext cx="2103120" cy="4224528"/>
          </a:xfrm>
          <a:prstGeom prst="roundRect">
            <a:avLst>
              <a:gd name="adj" fmla="val 3478"/>
            </a:avLst>
          </a:prstGeom>
          <a:solidFill>
            <a:srgbClr val="EAF0FD"/>
          </a:solidFill>
          <a:ln w="9525">
            <a:solidFill>
              <a:srgbClr val="C5D4F6"/>
            </a:solidFill>
            <a:prstDash val="solid"/>
          </a:ln>
        </p:spPr>
      </p:sp>
      <p:sp>
        <p:nvSpPr>
          <p:cNvPr id="6" name="Talkshop agents panel"/>
          <p:cNvSpPr/>
          <p:nvPr/>
        </p:nvSpPr>
        <p:spPr>
          <a:xfrm>
            <a:off x="2487168" y="914400"/>
            <a:ext cx="4590288" cy="4224528"/>
          </a:xfrm>
          <a:prstGeom prst="roundRect">
            <a:avLst>
              <a:gd name="adj" fmla="val 1732"/>
            </a:avLst>
          </a:prstGeom>
          <a:solidFill>
            <a:srgbClr val="F2EFFE"/>
          </a:solidFill>
          <a:ln w="9525">
            <a:solidFill>
              <a:srgbClr val="D5CCFA"/>
            </a:solidFill>
            <a:prstDash val="solid"/>
          </a:ln>
        </p:spPr>
      </p:sp>
      <p:sp>
        <p:nvSpPr>
          <p:cNvPr id="7" name="ShopSphere panel"/>
          <p:cNvSpPr/>
          <p:nvPr/>
        </p:nvSpPr>
        <p:spPr>
          <a:xfrm>
            <a:off x="7187184" y="914400"/>
            <a:ext cx="2395728" cy="4224528"/>
          </a:xfrm>
          <a:prstGeom prst="roundRect">
            <a:avLst>
              <a:gd name="adj" fmla="val 3053"/>
            </a:avLst>
          </a:prstGeom>
          <a:solidFill>
            <a:srgbClr val="FDF1E6"/>
          </a:solidFill>
          <a:ln w="9525">
            <a:solidFill>
              <a:srgbClr val="F5D0AE"/>
            </a:solidFill>
            <a:prstDash val="solid"/>
          </a:ln>
        </p:spPr>
      </p:sp>
      <p:sp>
        <p:nvSpPr>
          <p:cNvPr id="8" name="Payment panel"/>
          <p:cNvSpPr/>
          <p:nvPr/>
        </p:nvSpPr>
        <p:spPr>
          <a:xfrm>
            <a:off x="9692640" y="914400"/>
            <a:ext cx="2221992" cy="4224528"/>
          </a:xfrm>
          <a:prstGeom prst="roundRect">
            <a:avLst>
              <a:gd name="adj" fmla="val 3292"/>
            </a:avLst>
          </a:prstGeom>
          <a:solidFill>
            <a:srgbClr val="EEF1F6"/>
          </a:solidFill>
          <a:ln w="9525">
            <a:solidFill>
              <a:srgbClr val="D3D9E4"/>
            </a:solidFill>
            <a:prstDash val="solid"/>
          </a:ln>
        </p:spPr>
      </p:sp>
      <p:sp>
        <p:nvSpPr>
          <p:cNvPr id="9" name="Shape 7"/>
          <p:cNvSpPr/>
          <p:nvPr/>
        </p:nvSpPr>
        <p:spPr>
          <a:xfrm>
            <a:off x="384048" y="1005840"/>
            <a:ext cx="237744" cy="237744"/>
          </a:xfrm>
          <a:prstGeom prst="ellipse">
            <a:avLst/>
          </a:prstGeom>
          <a:solidFill>
            <a:srgbClr val="2563EB"/>
          </a:solidFill>
          <a:ln w="6350">
            <a:solidFill>
              <a:srgbClr val="2563EB"/>
            </a:solidFill>
            <a:prstDash val="solid"/>
          </a:ln>
        </p:spPr>
      </p:sp>
      <p:sp>
        <p:nvSpPr>
          <p:cNvPr id="10" name="Text 8"/>
          <p:cNvSpPr txBox="1"/>
          <p:nvPr/>
        </p:nvSpPr>
        <p:spPr>
          <a:xfrm>
            <a:off x="384048" y="1005840"/>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1" name="Text 9"/>
          <p:cNvSpPr txBox="1"/>
          <p:nvPr/>
        </p:nvSpPr>
        <p:spPr>
          <a:xfrm>
            <a:off x="685800" y="987552"/>
            <a:ext cx="1645920" cy="274320"/>
          </a:xfrm>
          <a:prstGeom prst="rect">
            <a:avLst/>
          </a:prstGeom>
          <a:noFill/>
          <a:ln/>
        </p:spPr>
        <p:txBody>
          <a:bodyPr wrap="square" lIns="0" tIns="0" rIns="0" bIns="0" rtlCol="0" anchor="ctr"/>
          <a:lstStyle/>
          <a:p>
            <a:pPr indent="0" marL="0">
              <a:buNone/>
            </a:pPr>
            <a:r>
              <a:rPr lang="en-US" sz="1350" b="1" dirty="0">
                <a:solidFill>
                  <a:srgbClr val="2563EB"/>
                </a:solidFill>
                <a:latin typeface="Calibri" pitchFamily="34" charset="0"/>
                <a:ea typeface="Calibri" pitchFamily="34" charset="-122"/>
                <a:cs typeface="Calibri" pitchFamily="34" charset="-120"/>
              </a:rPr>
              <a:t>Shopper</a:t>
            </a:r>
            <a:endParaRPr lang="en-US" sz="1350" dirty="0"/>
          </a:p>
        </p:txBody>
      </p:sp>
      <p:sp>
        <p:nvSpPr>
          <p:cNvPr id="12" name="Shape 10"/>
          <p:cNvSpPr/>
          <p:nvPr/>
        </p:nvSpPr>
        <p:spPr>
          <a:xfrm>
            <a:off x="3904488" y="1005840"/>
            <a:ext cx="237744" cy="237744"/>
          </a:xfrm>
          <a:prstGeom prst="ellipse">
            <a:avLst/>
          </a:prstGeom>
          <a:solidFill>
            <a:srgbClr val="5B3FD9"/>
          </a:solidFill>
          <a:ln w="6350">
            <a:solidFill>
              <a:srgbClr val="5B3FD9"/>
            </a:solidFill>
            <a:prstDash val="solid"/>
          </a:ln>
        </p:spPr>
      </p:sp>
      <p:sp>
        <p:nvSpPr>
          <p:cNvPr id="13" name="Text 11"/>
          <p:cNvSpPr txBox="1"/>
          <p:nvPr/>
        </p:nvSpPr>
        <p:spPr>
          <a:xfrm>
            <a:off x="3904488" y="1005840"/>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4" name="Text 12"/>
          <p:cNvSpPr txBox="1"/>
          <p:nvPr/>
        </p:nvSpPr>
        <p:spPr>
          <a:xfrm>
            <a:off x="4206240" y="987552"/>
            <a:ext cx="2377440" cy="274320"/>
          </a:xfrm>
          <a:prstGeom prst="rect">
            <a:avLst/>
          </a:prstGeom>
          <a:noFill/>
          <a:ln/>
        </p:spPr>
        <p:txBody>
          <a:bodyPr wrap="square" lIns="0" tIns="0" rIns="0" bIns="0" rtlCol="0" anchor="ctr"/>
          <a:lstStyle/>
          <a:p>
            <a:pPr indent="0" marL="0">
              <a:buNone/>
            </a:pPr>
            <a:r>
              <a:rPr lang="en-US" sz="1350" b="1" dirty="0">
                <a:solidFill>
                  <a:srgbClr val="5B3FD9"/>
                </a:solidFill>
                <a:latin typeface="Calibri" pitchFamily="34" charset="0"/>
                <a:ea typeface="Calibri" pitchFamily="34" charset="-122"/>
                <a:cs typeface="Calibri" pitchFamily="34" charset="-120"/>
              </a:rPr>
              <a:t>Talkshop Agents</a:t>
            </a:r>
            <a:endParaRPr lang="en-US" sz="1350" dirty="0"/>
          </a:p>
        </p:txBody>
      </p:sp>
      <p:sp>
        <p:nvSpPr>
          <p:cNvPr id="15" name="Text 13"/>
          <p:cNvSpPr txBox="1"/>
          <p:nvPr/>
        </p:nvSpPr>
        <p:spPr>
          <a:xfrm>
            <a:off x="2487168" y="1261872"/>
            <a:ext cx="4590288" cy="182880"/>
          </a:xfrm>
          <a:prstGeom prst="rect">
            <a:avLst/>
          </a:prstGeom>
          <a:noFill/>
          <a:ln/>
        </p:spPr>
        <p:txBody>
          <a:bodyPr wrap="square" lIns="0" tIns="0" rIns="0" bIns="0" rtlCol="0" anchor="t"/>
          <a:lstStyle/>
          <a:p>
            <a:pPr algn="ctr" indent="0" marL="0">
              <a:buNone/>
            </a:pPr>
            <a:r>
              <a:rPr lang="en-US" sz="800" dirty="0">
                <a:solidFill>
                  <a:srgbClr val="5B3FD9"/>
                </a:solidFill>
                <a:latin typeface="Calibri" pitchFamily="34" charset="0"/>
                <a:ea typeface="Calibri" pitchFamily="34" charset="-122"/>
                <a:cs typeface="Calibri" pitchFamily="34" charset="-120"/>
              </a:rPr>
              <a:t>Orchestrator = a stage machine that calls each agent in turn</a:t>
            </a:r>
            <a:endParaRPr lang="en-US" sz="800" dirty="0"/>
          </a:p>
        </p:txBody>
      </p:sp>
      <p:sp>
        <p:nvSpPr>
          <p:cNvPr id="16" name="Shape 14"/>
          <p:cNvSpPr/>
          <p:nvPr/>
        </p:nvSpPr>
        <p:spPr>
          <a:xfrm>
            <a:off x="7296912" y="1005840"/>
            <a:ext cx="237744" cy="237744"/>
          </a:xfrm>
          <a:prstGeom prst="ellipse">
            <a:avLst/>
          </a:prstGeom>
          <a:solidFill>
            <a:srgbClr val="D9620F"/>
          </a:solidFill>
          <a:ln w="6350">
            <a:solidFill>
              <a:srgbClr val="D9620F"/>
            </a:solidFill>
            <a:prstDash val="solid"/>
          </a:ln>
        </p:spPr>
      </p:sp>
      <p:sp>
        <p:nvSpPr>
          <p:cNvPr id="17" name="Text 15"/>
          <p:cNvSpPr txBox="1"/>
          <p:nvPr/>
        </p:nvSpPr>
        <p:spPr>
          <a:xfrm>
            <a:off x="7296912" y="1005840"/>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8" name="Text 16"/>
          <p:cNvSpPr txBox="1"/>
          <p:nvPr/>
        </p:nvSpPr>
        <p:spPr>
          <a:xfrm>
            <a:off x="7598664" y="987552"/>
            <a:ext cx="1938528" cy="274320"/>
          </a:xfrm>
          <a:prstGeom prst="rect">
            <a:avLst/>
          </a:prstGeom>
          <a:noFill/>
          <a:ln/>
        </p:spPr>
        <p:txBody>
          <a:bodyPr wrap="square" lIns="0" tIns="0" rIns="0" bIns="0" rtlCol="0" anchor="ctr"/>
          <a:lstStyle/>
          <a:p>
            <a:pPr indent="0" marL="0">
              <a:buNone/>
            </a:pPr>
            <a:r>
              <a:rPr lang="en-US" sz="1350" b="1" dirty="0">
                <a:solidFill>
                  <a:srgbClr val="D9620F"/>
                </a:solidFill>
                <a:latin typeface="Calibri" pitchFamily="34" charset="0"/>
                <a:ea typeface="Calibri" pitchFamily="34" charset="-122"/>
                <a:cs typeface="Calibri" pitchFamily="34" charset="-120"/>
              </a:rPr>
              <a:t>ShopSphere (merchant)</a:t>
            </a:r>
            <a:endParaRPr lang="en-US" sz="1350" dirty="0"/>
          </a:p>
        </p:txBody>
      </p:sp>
      <p:sp>
        <p:nvSpPr>
          <p:cNvPr id="19" name="Shape 17"/>
          <p:cNvSpPr/>
          <p:nvPr/>
        </p:nvSpPr>
        <p:spPr>
          <a:xfrm>
            <a:off x="9802368" y="1005840"/>
            <a:ext cx="237744" cy="237744"/>
          </a:xfrm>
          <a:prstGeom prst="ellipse">
            <a:avLst/>
          </a:prstGeom>
          <a:solidFill>
            <a:srgbClr val="334155"/>
          </a:solidFill>
          <a:ln w="6350">
            <a:solidFill>
              <a:srgbClr val="334155"/>
            </a:solidFill>
            <a:prstDash val="solid"/>
          </a:ln>
        </p:spPr>
      </p:sp>
      <p:sp>
        <p:nvSpPr>
          <p:cNvPr id="20" name="Text 18"/>
          <p:cNvSpPr txBox="1"/>
          <p:nvPr/>
        </p:nvSpPr>
        <p:spPr>
          <a:xfrm>
            <a:off x="9802368" y="1005840"/>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1" name="Text 19"/>
          <p:cNvSpPr txBox="1"/>
          <p:nvPr/>
        </p:nvSpPr>
        <p:spPr>
          <a:xfrm>
            <a:off x="10104120" y="987552"/>
            <a:ext cx="1764792" cy="274320"/>
          </a:xfrm>
          <a:prstGeom prst="rect">
            <a:avLst/>
          </a:prstGeom>
          <a:noFill/>
          <a:ln/>
        </p:spPr>
        <p:txBody>
          <a:bodyPr wrap="square" lIns="0" tIns="0" rIns="0" bIns="0" rtlCol="0" anchor="ctr"/>
          <a:lstStyle/>
          <a:p>
            <a:pPr indent="0" marL="0">
              <a:buNone/>
            </a:pPr>
            <a:r>
              <a:rPr lang="en-US" sz="1350" b="1" dirty="0">
                <a:solidFill>
                  <a:srgbClr val="334155"/>
                </a:solidFill>
                <a:latin typeface="Calibri" pitchFamily="34" charset="0"/>
                <a:ea typeface="Calibri" pitchFamily="34" charset="-122"/>
                <a:cs typeface="Calibri" pitchFamily="34" charset="-120"/>
              </a:rPr>
              <a:t>Payment (simulated)</a:t>
            </a:r>
            <a:endParaRPr lang="en-US" sz="1350" dirty="0"/>
          </a:p>
        </p:txBody>
      </p:sp>
      <p:pic>
        <p:nvPicPr>
          <p:cNvPr id="22" name="Image 0" descr="preencoded.png">    </p:cNvPr>
          <p:cNvPicPr>
            <a:picLocks noChangeAspect="1"/>
          </p:cNvPicPr>
          <p:nvPr/>
        </p:nvPicPr>
        <p:blipFill>
          <a:blip r:embed="rId1"/>
          <a:stretch>
            <a:fillRect/>
          </a:stretch>
        </p:blipFill>
        <p:spPr>
          <a:xfrm>
            <a:off x="411480" y="1389888"/>
            <a:ext cx="347472" cy="347472"/>
          </a:xfrm>
          <a:prstGeom prst="rect">
            <a:avLst/>
          </a:prstGeom>
        </p:spPr>
      </p:pic>
      <p:sp>
        <p:nvSpPr>
          <p:cNvPr id="23" name="Text 20"/>
          <p:cNvSpPr txBox="1"/>
          <p:nvPr/>
        </p:nvSpPr>
        <p:spPr>
          <a:xfrm>
            <a:off x="301752" y="1755648"/>
            <a:ext cx="566928" cy="146304"/>
          </a:xfrm>
          <a:prstGeom prst="rect">
            <a:avLst/>
          </a:prstGeom>
          <a:noFill/>
          <a:ln/>
        </p:spPr>
        <p:txBody>
          <a:bodyPr wrap="square" lIns="0" tIns="0" rIns="0" bIns="0" rtlCol="0" anchor="t"/>
          <a:lstStyle/>
          <a:p>
            <a:pPr algn="ctr" indent="0" marL="0">
              <a:buNone/>
            </a:pPr>
            <a:r>
              <a:rPr lang="en-US" sz="700" b="1" dirty="0">
                <a:solidFill>
                  <a:srgbClr val="1F2937"/>
                </a:solidFill>
                <a:latin typeface="Calibri" pitchFamily="34" charset="0"/>
                <a:ea typeface="Calibri" pitchFamily="34" charset="-122"/>
                <a:cs typeface="Calibri" pitchFamily="34" charset="-120"/>
              </a:rPr>
              <a:t>Shopper</a:t>
            </a:r>
            <a:endParaRPr lang="en-US" sz="700" dirty="0"/>
          </a:p>
        </p:txBody>
      </p:sp>
      <p:sp>
        <p:nvSpPr>
          <p:cNvPr id="24" name="Shape 21"/>
          <p:cNvSpPr/>
          <p:nvPr/>
        </p:nvSpPr>
        <p:spPr>
          <a:xfrm>
            <a:off x="896112" y="1344168"/>
            <a:ext cx="1389888" cy="530352"/>
          </a:xfrm>
          <a:prstGeom prst="roundRect">
            <a:avLst>
              <a:gd name="adj" fmla="val 13793"/>
            </a:avLst>
          </a:prstGeom>
          <a:solidFill>
            <a:srgbClr val="FFFFFF"/>
          </a:solidFill>
          <a:ln w="9525">
            <a:solidFill>
              <a:srgbClr val="C5D4F6"/>
            </a:solidFill>
            <a:prstDash val="solid"/>
          </a:ln>
        </p:spPr>
      </p:sp>
      <p:sp>
        <p:nvSpPr>
          <p:cNvPr id="25" name="Text 22"/>
          <p:cNvSpPr txBox="1"/>
          <p:nvPr/>
        </p:nvSpPr>
        <p:spPr>
          <a:xfrm>
            <a:off x="950976" y="1389888"/>
            <a:ext cx="1298448" cy="457200"/>
          </a:xfrm>
          <a:prstGeom prst="rect">
            <a:avLst/>
          </a:prstGeom>
          <a:noFill/>
          <a:ln/>
        </p:spPr>
        <p:txBody>
          <a:bodyPr wrap="square" lIns="0" tIns="0" rIns="0" bIns="0" rtlCol="0" anchor="t"/>
          <a:lstStyle/>
          <a:p>
            <a:pPr indent="0" marL="0">
              <a:buNone/>
            </a:pPr>
            <a:r>
              <a:rPr lang="en-US" sz="850" dirty="0">
                <a:solidFill>
                  <a:srgbClr val="1F2937"/>
                </a:solidFill>
                <a:latin typeface="Calibri" pitchFamily="34" charset="0"/>
                <a:ea typeface="Calibri" pitchFamily="34" charset="-122"/>
                <a:cs typeface="Calibri" pitchFamily="34" charset="-120"/>
              </a:rPr>
              <a:t>“I need </a:t>
            </a:r>
            <a:pPr indent="0" marL="0">
              <a:buNone/>
            </a:pPr>
            <a:r>
              <a:rPr lang="en-US" sz="850" b="1" dirty="0">
                <a:solidFill>
                  <a:srgbClr val="1F2937"/>
                </a:solidFill>
                <a:latin typeface="Calibri" pitchFamily="34" charset="0"/>
                <a:ea typeface="Calibri" pitchFamily="34" charset="-122"/>
                <a:cs typeface="Calibri" pitchFamily="34" charset="-120"/>
              </a:rPr>
              <a:t>running shoes</a:t>
            </a:r>
            <a:pPr indent="0" marL="0">
              <a:buNone/>
            </a:pPr>
            <a:r>
              <a:rPr lang="en-US" sz="850" dirty="0">
                <a:solidFill>
                  <a:srgbClr val="1F2937"/>
                </a:solidFill>
                <a:latin typeface="Calibri" pitchFamily="34" charset="0"/>
                <a:ea typeface="Calibri" pitchFamily="34" charset="-122"/>
                <a:cs typeface="Calibri" pitchFamily="34" charset="-120"/>
              </a:rPr>
              <a:t> under </a:t>
            </a:r>
            <a:pPr indent="0" marL="0">
              <a:buNone/>
            </a:pPr>
            <a:r>
              <a:rPr lang="en-US" sz="850" b="1" dirty="0">
                <a:solidFill>
                  <a:srgbClr val="1F2937"/>
                </a:solidFill>
                <a:latin typeface="Calibri" pitchFamily="34" charset="0"/>
                <a:ea typeface="Calibri" pitchFamily="34" charset="-122"/>
                <a:cs typeface="Calibri" pitchFamily="34" charset="-120"/>
              </a:rPr>
              <a:t>$150</a:t>
            </a:r>
            <a:pPr indent="0" marL="0">
              <a:buNone/>
            </a:pPr>
            <a:r>
              <a:rPr lang="en-US" sz="850" dirty="0">
                <a:solidFill>
                  <a:srgbClr val="1F2937"/>
                </a:solidFill>
                <a:latin typeface="Calibri" pitchFamily="34" charset="0"/>
                <a:ea typeface="Calibri" pitchFamily="34" charset="-122"/>
                <a:cs typeface="Calibri" pitchFamily="34" charset="-120"/>
              </a:rPr>
              <a:t> for everyday running.”</a:t>
            </a:r>
            <a:endParaRPr lang="en-US" sz="850" dirty="0"/>
          </a:p>
        </p:txBody>
      </p:sp>
      <p:sp>
        <p:nvSpPr>
          <p:cNvPr id="26" name="Shape 23"/>
          <p:cNvSpPr/>
          <p:nvPr/>
        </p:nvSpPr>
        <p:spPr>
          <a:xfrm>
            <a:off x="585216" y="1938528"/>
            <a:ext cx="0" cy="649224"/>
          </a:xfrm>
          <a:prstGeom prst="line">
            <a:avLst/>
          </a:prstGeom>
          <a:noFill/>
          <a:ln w="15875">
            <a:solidFill>
              <a:srgbClr val="1F2937"/>
            </a:solidFill>
            <a:prstDash val="solid"/>
            <a:tailEnd type="triangle"/>
          </a:ln>
        </p:spPr>
      </p:sp>
      <p:sp>
        <p:nvSpPr>
          <p:cNvPr id="27" name="Step 1"/>
          <p:cNvSpPr/>
          <p:nvPr/>
        </p:nvSpPr>
        <p:spPr>
          <a:xfrm>
            <a:off x="896112" y="1947672"/>
            <a:ext cx="1389888" cy="585216"/>
          </a:xfrm>
          <a:prstGeom prst="roundRect">
            <a:avLst>
              <a:gd name="adj" fmla="val 12500"/>
            </a:avLst>
          </a:prstGeom>
          <a:solidFill>
            <a:srgbClr val="FFFFFF"/>
          </a:solidFill>
          <a:ln w="12700">
            <a:solidFill>
              <a:srgbClr val="1F2937"/>
            </a:solidFill>
            <a:prstDash val="solid"/>
          </a:ln>
        </p:spPr>
      </p:sp>
      <p:sp>
        <p:nvSpPr>
          <p:cNvPr id="28" name="Shape 25"/>
          <p:cNvSpPr/>
          <p:nvPr/>
        </p:nvSpPr>
        <p:spPr>
          <a:xfrm>
            <a:off x="960120" y="2011680"/>
            <a:ext cx="201168" cy="201168"/>
          </a:xfrm>
          <a:prstGeom prst="ellipse">
            <a:avLst/>
          </a:prstGeom>
          <a:solidFill>
            <a:srgbClr val="1F2937"/>
          </a:solidFill>
          <a:ln w="6350">
            <a:solidFill>
              <a:srgbClr val="1F2937"/>
            </a:solidFill>
            <a:prstDash val="solid"/>
          </a:ln>
        </p:spPr>
      </p:sp>
      <p:sp>
        <p:nvSpPr>
          <p:cNvPr id="29" name="Text 26"/>
          <p:cNvSpPr txBox="1"/>
          <p:nvPr/>
        </p:nvSpPr>
        <p:spPr>
          <a:xfrm>
            <a:off x="960120" y="2011680"/>
            <a:ext cx="201168" cy="20116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1</a:t>
            </a:r>
            <a:endParaRPr lang="en-US" sz="850" dirty="0"/>
          </a:p>
        </p:txBody>
      </p:sp>
      <p:sp>
        <p:nvSpPr>
          <p:cNvPr id="30" name="Text 27"/>
          <p:cNvSpPr txBox="1"/>
          <p:nvPr/>
        </p:nvSpPr>
        <p:spPr>
          <a:xfrm>
            <a:off x="1207008" y="2002536"/>
            <a:ext cx="1024128" cy="493776"/>
          </a:xfrm>
          <a:prstGeom prst="rect">
            <a:avLst/>
          </a:prstGeom>
          <a:noFill/>
          <a:ln/>
        </p:spPr>
        <p:txBody>
          <a:bodyPr wrap="square" lIns="0" tIns="0" rIns="0" bIns="0" rtlCol="0" anchor="t"/>
          <a:lstStyle/>
          <a:p>
            <a:pPr indent="0" marL="0">
              <a:lnSpc>
                <a:spcPct val="95000"/>
              </a:lnSpc>
              <a:buNone/>
            </a:pPr>
            <a:r>
              <a:rPr lang="en-US" sz="750" b="1" dirty="0">
                <a:solidFill>
                  <a:srgbClr val="1F2937"/>
                </a:solidFill>
                <a:latin typeface="Calibri" pitchFamily="34" charset="0"/>
                <a:ea typeface="Calibri" pitchFamily="34" charset="-122"/>
                <a:cs typeface="Calibri" pitchFamily="34" charset="-120"/>
              </a:rPr>
              <a:t>Shopper asks in Talkshop. </a:t>
            </a:r>
            <a:pPr indent="0" marL="0">
              <a:lnSpc>
                <a:spcPct val="95000"/>
              </a:lnSpc>
              <a:buNone/>
            </a:pPr>
            <a:r>
              <a:rPr lang="en-US" sz="750" dirty="0">
                <a:solidFill>
                  <a:srgbClr val="1F2937"/>
                </a:solidFill>
                <a:latin typeface="Calibri" pitchFamily="34" charset="0"/>
                <a:ea typeface="Calibri" pitchFamily="34" charset="-122"/>
                <a:cs typeface="Calibri" pitchFamily="34" charset="-120"/>
              </a:rPr>
              <a:t>VibeCheck masks data, runs guardrails; the AI picks: search.</a:t>
            </a:r>
            <a:endParaRPr lang="en-US" sz="750" dirty="0"/>
          </a:p>
        </p:txBody>
      </p:sp>
      <p:sp>
        <p:nvSpPr>
          <p:cNvPr id="31" name="Talkshop panel"/>
          <p:cNvSpPr/>
          <p:nvPr/>
        </p:nvSpPr>
        <p:spPr>
          <a:xfrm>
            <a:off x="365760" y="2615184"/>
            <a:ext cx="1920240" cy="1024128"/>
          </a:xfrm>
          <a:prstGeom prst="roundRect">
            <a:avLst>
              <a:gd name="adj" fmla="val 7143"/>
            </a:avLst>
          </a:prstGeom>
          <a:solidFill>
            <a:srgbClr val="FFFFFF"/>
          </a:solidFill>
          <a:ln w="9525">
            <a:solidFill>
              <a:srgbClr val="C5D4F6"/>
            </a:solidFill>
            <a:prstDash val="solid"/>
          </a:ln>
        </p:spPr>
      </p:sp>
      <p:pic>
        <p:nvPicPr>
          <p:cNvPr id="32" name="Image 1" descr="preencoded.png">    </p:cNvPr>
          <p:cNvPicPr>
            <a:picLocks noChangeAspect="1"/>
          </p:cNvPicPr>
          <p:nvPr/>
        </p:nvPicPr>
        <p:blipFill>
          <a:blip r:embed="rId2"/>
          <a:stretch>
            <a:fillRect/>
          </a:stretch>
        </p:blipFill>
        <p:spPr>
          <a:xfrm>
            <a:off x="457200" y="2688336"/>
            <a:ext cx="237744" cy="237744"/>
          </a:xfrm>
          <a:prstGeom prst="rect">
            <a:avLst/>
          </a:prstGeom>
        </p:spPr>
      </p:pic>
      <p:sp>
        <p:nvSpPr>
          <p:cNvPr id="33" name="Text 29"/>
          <p:cNvSpPr txBox="1"/>
          <p:nvPr/>
        </p:nvSpPr>
        <p:spPr>
          <a:xfrm>
            <a:off x="749808" y="2688336"/>
            <a:ext cx="1463040" cy="237744"/>
          </a:xfrm>
          <a:prstGeom prst="rect">
            <a:avLst/>
          </a:prstGeom>
          <a:noFill/>
          <a:ln/>
        </p:spPr>
        <p:txBody>
          <a:bodyPr wrap="square" lIns="0" tIns="0" rIns="0" bIns="0" rtlCol="0" anchor="ctr"/>
          <a:lstStyle/>
          <a:p>
            <a:pPr indent="0" marL="0">
              <a:buNone/>
            </a:pPr>
            <a:r>
              <a:rPr lang="en-US" sz="1100" b="1" dirty="0">
                <a:solidFill>
                  <a:srgbClr val="2563EB"/>
                </a:solidFill>
                <a:latin typeface="Calibri" pitchFamily="34" charset="0"/>
                <a:ea typeface="Calibri" pitchFamily="34" charset="-122"/>
                <a:cs typeface="Calibri" pitchFamily="34" charset="-120"/>
              </a:rPr>
              <a:t>Talkshop panel</a:t>
            </a:r>
            <a:endParaRPr lang="en-US" sz="1100" dirty="0"/>
          </a:p>
        </p:txBody>
      </p:sp>
      <p:sp>
        <p:nvSpPr>
          <p:cNvPr id="34" name="Text 30"/>
          <p:cNvSpPr txBox="1"/>
          <p:nvPr/>
        </p:nvSpPr>
        <p:spPr>
          <a:xfrm>
            <a:off x="457200" y="2971800"/>
            <a:ext cx="1792224" cy="640080"/>
          </a:xfrm>
          <a:prstGeom prst="rect">
            <a:avLst/>
          </a:prstGeom>
          <a:noFill/>
          <a:ln/>
        </p:spPr>
        <p:txBody>
          <a:bodyPr wrap="square" lIns="0" tIns="0" rIns="0" bIns="0" rtlCol="0" anchor="t"/>
          <a:lstStyle/>
          <a:p>
            <a:pPr marL="114300" indent="-114300">
              <a:spcAft>
                <a:spcPts val="150"/>
              </a:spcAft>
              <a:buSzPct val="100000"/>
              <a:buChar char="•"/>
            </a:pPr>
            <a:r>
              <a:rPr lang="en-US" sz="750" dirty="0">
                <a:solidFill>
                  <a:srgbClr val="1F2937"/>
                </a:solidFill>
                <a:latin typeface="Calibri" pitchFamily="34" charset="0"/>
                <a:ea typeface="Calibri" pitchFamily="34" charset="-122"/>
                <a:cs typeface="Calibri" pitchFamily="34" charset="-120"/>
              </a:rPr>
              <a:t>Chat, product cards, review card</a:t>
            </a:r>
            <a:endParaRPr lang="en-US" sz="750" dirty="0"/>
          </a:p>
          <a:p>
            <a:pPr marL="114300" indent="-114300">
              <a:spcAft>
                <a:spcPts val="150"/>
              </a:spcAft>
              <a:buSzPct val="100000"/>
              <a:buChar char="•"/>
            </a:pPr>
            <a:r>
              <a:rPr lang="en-US" sz="750" dirty="0">
                <a:solidFill>
                  <a:srgbClr val="1F2937"/>
                </a:solidFill>
                <a:latin typeface="Calibri" pitchFamily="34" charset="0"/>
                <a:ea typeface="Calibri" pitchFamily="34" charset="-122"/>
                <a:cs typeface="Calibri" pitchFamily="34" charset="-120"/>
              </a:rPr>
              <a:t>Live trace of every agent step</a:t>
            </a:r>
            <a:endParaRPr lang="en-US" sz="750" dirty="0"/>
          </a:p>
          <a:p>
            <a:pPr marL="114300" indent="-114300">
              <a:spcAft>
                <a:spcPts val="150"/>
              </a:spcAft>
              <a:buSzPct val="100000"/>
              <a:buChar char="•"/>
            </a:pPr>
            <a:r>
              <a:rPr lang="en-US" sz="750" dirty="0">
                <a:solidFill>
                  <a:srgbClr val="1F2937"/>
                </a:solidFill>
                <a:latin typeface="Calibri" pitchFamily="34" charset="0"/>
                <a:ea typeface="Calibri" pitchFamily="34" charset="-122"/>
                <a:cs typeface="Calibri" pitchFamily="34" charset="-120"/>
              </a:rPr>
              <a:t>Secure Payment Sheet for new cards</a:t>
            </a:r>
            <a:endParaRPr lang="en-US" sz="750" dirty="0"/>
          </a:p>
          <a:p>
            <a:pPr marL="114300" indent="-114300">
              <a:spcAft>
                <a:spcPts val="150"/>
              </a:spcAft>
              <a:buSzPct val="100000"/>
              <a:buChar char="•"/>
            </a:pPr>
            <a:r>
              <a:rPr lang="en-US" sz="750" dirty="0">
                <a:solidFill>
                  <a:srgbClr val="1F2937"/>
                </a:solidFill>
                <a:latin typeface="Calibri" pitchFamily="34" charset="0"/>
                <a:ea typeface="Calibri" pitchFamily="34" charset="-122"/>
                <a:cs typeface="Calibri" pitchFamily="34" charset="-120"/>
              </a:rPr>
              <a:t>Card numbers in chat are masked</a:t>
            </a:r>
            <a:endParaRPr lang="en-US" sz="750" dirty="0"/>
          </a:p>
        </p:txBody>
      </p:sp>
      <p:sp>
        <p:nvSpPr>
          <p:cNvPr id="35" name="Approve card"/>
          <p:cNvSpPr/>
          <p:nvPr/>
        </p:nvSpPr>
        <p:spPr>
          <a:xfrm>
            <a:off x="365760" y="3730752"/>
            <a:ext cx="1920240" cy="749808"/>
          </a:xfrm>
          <a:prstGeom prst="roundRect">
            <a:avLst>
              <a:gd name="adj" fmla="val 9756"/>
            </a:avLst>
          </a:prstGeom>
          <a:solidFill>
            <a:srgbClr val="FFFFFF"/>
          </a:solidFill>
          <a:ln w="12700">
            <a:solidFill>
              <a:srgbClr val="15803D"/>
            </a:solidFill>
            <a:prstDash val="solid"/>
          </a:ln>
        </p:spPr>
      </p:sp>
      <p:sp>
        <p:nvSpPr>
          <p:cNvPr id="36" name="Text 32"/>
          <p:cNvSpPr txBox="1"/>
          <p:nvPr/>
        </p:nvSpPr>
        <p:spPr>
          <a:xfrm>
            <a:off x="457200" y="3776472"/>
            <a:ext cx="1783080" cy="182880"/>
          </a:xfrm>
          <a:prstGeom prst="rect">
            <a:avLst/>
          </a:prstGeom>
          <a:noFill/>
          <a:ln/>
        </p:spPr>
        <p:txBody>
          <a:bodyPr wrap="square" lIns="0" tIns="0" rIns="0" bIns="0" rtlCol="0" anchor="t"/>
          <a:lstStyle/>
          <a:p>
            <a:pPr indent="0" marL="0">
              <a:buNone/>
            </a:pPr>
            <a:r>
              <a:rPr lang="en-US" sz="900" b="1" dirty="0">
                <a:solidFill>
                  <a:srgbClr val="15803D"/>
                </a:solidFill>
                <a:latin typeface="Calibri" pitchFamily="34" charset="0"/>
                <a:ea typeface="Calibri" pitchFamily="34" charset="-122"/>
                <a:cs typeface="Calibri" pitchFamily="34" charset="-120"/>
              </a:rPr>
              <a:t>Review &amp; approve · $150.47</a:t>
            </a:r>
            <a:endParaRPr lang="en-US" sz="900" dirty="0"/>
          </a:p>
        </p:txBody>
      </p:sp>
      <p:sp>
        <p:nvSpPr>
          <p:cNvPr id="37" name="Text 33"/>
          <p:cNvSpPr txBox="1"/>
          <p:nvPr/>
        </p:nvSpPr>
        <p:spPr>
          <a:xfrm>
            <a:off x="457200" y="3959352"/>
            <a:ext cx="1783080" cy="155448"/>
          </a:xfrm>
          <a:prstGeom prst="rect">
            <a:avLst/>
          </a:prstGeom>
          <a:noFill/>
          <a:ln/>
        </p:spPr>
        <p:txBody>
          <a:bodyPr wrap="square" lIns="0" tIns="0" rIns="0" bIns="0" rtlCol="0" anchor="t"/>
          <a:lstStyle/>
          <a:p>
            <a:pPr indent="0" marL="0">
              <a:buNone/>
            </a:pPr>
            <a:r>
              <a:rPr lang="en-US" sz="700" dirty="0">
                <a:solidFill>
                  <a:srgbClr val="5B6475"/>
                </a:solidFill>
                <a:latin typeface="Calibri" pitchFamily="34" charset="0"/>
                <a:ea typeface="Calibri" pitchFamily="34" charset="-122"/>
                <a:cs typeface="Calibri" pitchFamily="34" charset="-120"/>
              </a:rPr>
              <a:t>FlexRun 5 · size 9 · orange · Visa •••• 4242</a:t>
            </a:r>
            <a:endParaRPr lang="en-US" sz="700" dirty="0"/>
          </a:p>
        </p:txBody>
      </p:sp>
      <p:sp>
        <p:nvSpPr>
          <p:cNvPr id="38" name="Shape 34"/>
          <p:cNvSpPr/>
          <p:nvPr/>
        </p:nvSpPr>
        <p:spPr>
          <a:xfrm>
            <a:off x="457200" y="4160520"/>
            <a:ext cx="914400" cy="237744"/>
          </a:xfrm>
          <a:prstGeom prst="roundRect">
            <a:avLst>
              <a:gd name="adj" fmla="val 19231"/>
            </a:avLst>
          </a:prstGeom>
          <a:solidFill>
            <a:srgbClr val="15803D"/>
          </a:solidFill>
          <a:ln w="12700">
            <a:solidFill>
              <a:srgbClr val="15803D"/>
            </a:solidFill>
            <a:prstDash val="solid"/>
          </a:ln>
        </p:spPr>
      </p:sp>
      <p:sp>
        <p:nvSpPr>
          <p:cNvPr id="39" name="Text 35"/>
          <p:cNvSpPr txBox="1"/>
          <p:nvPr/>
        </p:nvSpPr>
        <p:spPr>
          <a:xfrm>
            <a:off x="457200" y="4160520"/>
            <a:ext cx="9144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Approve &amp; Pay</a:t>
            </a:r>
            <a:endParaRPr lang="en-US" sz="800" dirty="0"/>
          </a:p>
        </p:txBody>
      </p:sp>
      <p:sp>
        <p:nvSpPr>
          <p:cNvPr id="40" name="Shape 36"/>
          <p:cNvSpPr/>
          <p:nvPr/>
        </p:nvSpPr>
        <p:spPr>
          <a:xfrm>
            <a:off x="1444752" y="4160520"/>
            <a:ext cx="566928" cy="237744"/>
          </a:xfrm>
          <a:prstGeom prst="roundRect">
            <a:avLst>
              <a:gd name="adj" fmla="val 19231"/>
            </a:avLst>
          </a:prstGeom>
          <a:solidFill>
            <a:srgbClr val="FFFFFF"/>
          </a:solidFill>
          <a:ln w="12700">
            <a:solidFill>
              <a:srgbClr val="D5DAE3"/>
            </a:solidFill>
            <a:prstDash val="solid"/>
          </a:ln>
        </p:spPr>
      </p:sp>
      <p:sp>
        <p:nvSpPr>
          <p:cNvPr id="41" name="Text 37"/>
          <p:cNvSpPr txBox="1"/>
          <p:nvPr/>
        </p:nvSpPr>
        <p:spPr>
          <a:xfrm>
            <a:off x="1444752" y="4160520"/>
            <a:ext cx="566928" cy="237744"/>
          </a:xfrm>
          <a:prstGeom prst="rect">
            <a:avLst/>
          </a:prstGeom>
          <a:noFill/>
          <a:ln/>
        </p:spPr>
        <p:txBody>
          <a:bodyPr wrap="square" lIns="0" tIns="0" rIns="0" bIns="0" rtlCol="0" anchor="ctr"/>
          <a:lstStyle/>
          <a:p>
            <a:pPr algn="ctr" indent="0" marL="0">
              <a:buNone/>
            </a:pPr>
            <a:r>
              <a:rPr lang="en-US" sz="800" dirty="0">
                <a:solidFill>
                  <a:srgbClr val="1F2937"/>
                </a:solidFill>
                <a:latin typeface="Calibri" pitchFamily="34" charset="0"/>
                <a:ea typeface="Calibri" pitchFamily="34" charset="-122"/>
                <a:cs typeface="Calibri" pitchFamily="34" charset="-120"/>
              </a:rPr>
              <a:t>Cancel</a:t>
            </a:r>
            <a:endParaRPr lang="en-US" sz="800" dirty="0"/>
          </a:p>
        </p:txBody>
      </p:sp>
      <p:sp>
        <p:nvSpPr>
          <p:cNvPr id="42" name="Order confirmed"/>
          <p:cNvSpPr/>
          <p:nvPr/>
        </p:nvSpPr>
        <p:spPr>
          <a:xfrm>
            <a:off x="365760" y="4572000"/>
            <a:ext cx="1920240" cy="493776"/>
          </a:xfrm>
          <a:prstGeom prst="roundRect">
            <a:avLst>
              <a:gd name="adj" fmla="val 14815"/>
            </a:avLst>
          </a:prstGeom>
          <a:solidFill>
            <a:srgbClr val="FFFFFF"/>
          </a:solidFill>
          <a:ln w="9525">
            <a:solidFill>
              <a:srgbClr val="C5D4F6"/>
            </a:solidFill>
            <a:prstDash val="solid"/>
          </a:ln>
        </p:spPr>
      </p:sp>
      <p:sp>
        <p:nvSpPr>
          <p:cNvPr id="43" name="Text 39"/>
          <p:cNvSpPr txBox="1"/>
          <p:nvPr/>
        </p:nvSpPr>
        <p:spPr>
          <a:xfrm>
            <a:off x="457200" y="4617720"/>
            <a:ext cx="1783080" cy="182880"/>
          </a:xfrm>
          <a:prstGeom prst="rect">
            <a:avLst/>
          </a:prstGeom>
          <a:noFill/>
          <a:ln/>
        </p:spPr>
        <p:txBody>
          <a:bodyPr wrap="square" lIns="0" tIns="0" rIns="0" bIns="0" rtlCol="0" anchor="t"/>
          <a:lstStyle/>
          <a:p>
            <a:pPr indent="0" marL="0">
              <a:buNone/>
            </a:pPr>
            <a:r>
              <a:rPr lang="en-US" sz="900" b="1" dirty="0">
                <a:solidFill>
                  <a:srgbClr val="2563EB"/>
                </a:solidFill>
                <a:latin typeface="Calibri" pitchFamily="34" charset="0"/>
                <a:ea typeface="Calibri" pitchFamily="34" charset="-122"/>
                <a:cs typeface="Calibri" pitchFamily="34" charset="-120"/>
              </a:rPr>
              <a:t>✓ Order confirmed</a:t>
            </a:r>
            <a:endParaRPr lang="en-US" sz="900" dirty="0"/>
          </a:p>
        </p:txBody>
      </p:sp>
      <p:sp>
        <p:nvSpPr>
          <p:cNvPr id="44" name="Text 40"/>
          <p:cNvSpPr txBox="1"/>
          <p:nvPr/>
        </p:nvSpPr>
        <p:spPr>
          <a:xfrm>
            <a:off x="457200" y="4809744"/>
            <a:ext cx="1783080" cy="182880"/>
          </a:xfrm>
          <a:prstGeom prst="rect">
            <a:avLst/>
          </a:prstGeom>
          <a:noFill/>
          <a:ln/>
        </p:spPr>
        <p:txBody>
          <a:bodyPr wrap="square" lIns="0" tIns="0" rIns="0" bIns="0" rtlCol="0" anchor="t"/>
          <a:lstStyle/>
          <a:p>
            <a:pPr indent="0" marL="0">
              <a:buNone/>
            </a:pPr>
            <a:r>
              <a:rPr lang="en-US" sz="700" dirty="0">
                <a:solidFill>
                  <a:srgbClr val="5B6475"/>
                </a:solidFill>
                <a:latin typeface="Calibri" pitchFamily="34" charset="0"/>
                <a:ea typeface="Calibri" pitchFamily="34" charset="-122"/>
                <a:cs typeface="Calibri" pitchFamily="34" charset="-120"/>
              </a:rPr>
              <a:t>SS-73968 · arrives Wed, Oct 21 · +150 points</a:t>
            </a:r>
            <a:endParaRPr lang="en-US" sz="700" dirty="0"/>
          </a:p>
        </p:txBody>
      </p:sp>
      <p:sp>
        <p:nvSpPr>
          <p:cNvPr id="45" name="Agents box"/>
          <p:cNvSpPr/>
          <p:nvPr/>
        </p:nvSpPr>
        <p:spPr>
          <a:xfrm>
            <a:off x="3529584" y="1499616"/>
            <a:ext cx="2542032" cy="3127248"/>
          </a:xfrm>
          <a:prstGeom prst="roundRect">
            <a:avLst>
              <a:gd name="adj" fmla="val 2878"/>
            </a:avLst>
          </a:prstGeom>
          <a:solidFill>
            <a:srgbClr val="FFFFFF"/>
          </a:solidFill>
          <a:ln w="12700">
            <a:solidFill>
              <a:srgbClr val="5B3FD9"/>
            </a:solidFill>
            <a:prstDash val="solid"/>
          </a:ln>
        </p:spPr>
      </p:sp>
      <p:pic>
        <p:nvPicPr>
          <p:cNvPr id="46" name="Image 2" descr="preencoded.png">    </p:cNvPr>
          <p:cNvPicPr>
            <a:picLocks noChangeAspect="1"/>
          </p:cNvPicPr>
          <p:nvPr/>
        </p:nvPicPr>
        <p:blipFill>
          <a:blip r:embed="rId3"/>
          <a:stretch>
            <a:fillRect/>
          </a:stretch>
        </p:blipFill>
        <p:spPr>
          <a:xfrm>
            <a:off x="3621024" y="1563624"/>
            <a:ext cx="219456" cy="219456"/>
          </a:xfrm>
          <a:prstGeom prst="rect">
            <a:avLst/>
          </a:prstGeom>
        </p:spPr>
      </p:pic>
      <p:sp>
        <p:nvSpPr>
          <p:cNvPr id="47" name="Text 42"/>
          <p:cNvSpPr txBox="1"/>
          <p:nvPr/>
        </p:nvSpPr>
        <p:spPr>
          <a:xfrm>
            <a:off x="3895344" y="1563624"/>
            <a:ext cx="2103120" cy="219456"/>
          </a:xfrm>
          <a:prstGeom prst="rect">
            <a:avLst/>
          </a:prstGeom>
          <a:noFill/>
          <a:ln/>
        </p:spPr>
        <p:txBody>
          <a:bodyPr wrap="square" lIns="0" tIns="0" rIns="0" bIns="0" rtlCol="0" anchor="ctr"/>
          <a:lstStyle/>
          <a:p>
            <a:pPr indent="0" marL="0">
              <a:buNone/>
            </a:pPr>
            <a:r>
              <a:rPr lang="en-US" sz="1000" b="1" dirty="0">
                <a:solidFill>
                  <a:srgbClr val="5B3FD9"/>
                </a:solidFill>
                <a:latin typeface="Calibri" pitchFamily="34" charset="0"/>
                <a:ea typeface="Calibri" pitchFamily="34" charset="-122"/>
                <a:cs typeface="Calibri" pitchFamily="34" charset="-120"/>
              </a:rPr>
              <a:t>Agents · in the order they run</a:t>
            </a:r>
            <a:endParaRPr lang="en-US" sz="1000" dirty="0"/>
          </a:p>
        </p:txBody>
      </p:sp>
      <p:sp>
        <p:nvSpPr>
          <p:cNvPr id="48" name="VibeCheck"/>
          <p:cNvSpPr/>
          <p:nvPr/>
        </p:nvSpPr>
        <p:spPr>
          <a:xfrm>
            <a:off x="3621024" y="1865376"/>
            <a:ext cx="2359152" cy="411480"/>
          </a:xfrm>
          <a:prstGeom prst="roundRect">
            <a:avLst>
              <a:gd name="adj" fmla="val 13333"/>
            </a:avLst>
          </a:prstGeom>
          <a:solidFill>
            <a:srgbClr val="F8F6FF"/>
          </a:solidFill>
          <a:ln w="9525">
            <a:solidFill>
              <a:srgbClr val="E2DCFB"/>
            </a:solidFill>
            <a:prstDash val="solid"/>
          </a:ln>
        </p:spPr>
      </p:sp>
      <p:sp>
        <p:nvSpPr>
          <p:cNvPr id="49" name="Shape 44"/>
          <p:cNvSpPr/>
          <p:nvPr/>
        </p:nvSpPr>
        <p:spPr>
          <a:xfrm>
            <a:off x="3675888" y="1920240"/>
            <a:ext cx="301752" cy="301752"/>
          </a:xfrm>
          <a:prstGeom prst="roundRect">
            <a:avLst>
              <a:gd name="adj" fmla="val 18182"/>
            </a:avLst>
          </a:prstGeom>
          <a:solidFill>
            <a:srgbClr val="5B3FD9"/>
          </a:solidFill>
          <a:ln w="12700">
            <a:solidFill>
              <a:srgbClr val="5B3FD9"/>
            </a:solidFill>
            <a:prstDash val="solid"/>
          </a:ln>
        </p:spPr>
      </p:sp>
      <p:sp>
        <p:nvSpPr>
          <p:cNvPr id="50" name="Text 45"/>
          <p:cNvSpPr txBox="1"/>
          <p:nvPr/>
        </p:nvSpPr>
        <p:spPr>
          <a:xfrm>
            <a:off x="3675888" y="1920240"/>
            <a:ext cx="301752" cy="30175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VC</a:t>
            </a:r>
            <a:endParaRPr lang="en-US" sz="900" dirty="0"/>
          </a:p>
        </p:txBody>
      </p:sp>
      <p:sp>
        <p:nvSpPr>
          <p:cNvPr id="51" name="Text 46"/>
          <p:cNvSpPr txBox="1"/>
          <p:nvPr/>
        </p:nvSpPr>
        <p:spPr>
          <a:xfrm>
            <a:off x="4041648" y="1901952"/>
            <a:ext cx="1481328" cy="155448"/>
          </a:xfrm>
          <a:prstGeom prst="rect">
            <a:avLst/>
          </a:prstGeom>
          <a:noFill/>
          <a:ln/>
        </p:spPr>
        <p:txBody>
          <a:bodyPr wrap="square" lIns="0" tIns="0" rIns="0" bIns="0" rtlCol="0" anchor="t"/>
          <a:lstStyle/>
          <a:p>
            <a:pPr indent="0" marL="0">
              <a:buNone/>
            </a:pPr>
            <a:r>
              <a:rPr lang="en-US" sz="850" b="1" dirty="0">
                <a:solidFill>
                  <a:srgbClr val="1F2937"/>
                </a:solidFill>
                <a:latin typeface="Calibri" pitchFamily="34" charset="0"/>
                <a:ea typeface="Calibri" pitchFamily="34" charset="-122"/>
                <a:cs typeface="Calibri" pitchFamily="34" charset="-120"/>
              </a:rPr>
              <a:t>VibeCheck</a:t>
            </a:r>
            <a:pPr indent="0" marL="0">
              <a:buNone/>
            </a:pPr>
            <a:r>
              <a:rPr lang="en-US" sz="850" dirty="0">
                <a:solidFill>
                  <a:srgbClr val="1F2937"/>
                </a:solidFill>
                <a:latin typeface="Calibri" pitchFamily="34" charset="0"/>
                <a:ea typeface="Calibri" pitchFamily="34" charset="-122"/>
                <a:cs typeface="Calibri" pitchFamily="34" charset="-120"/>
              </a:rPr>
              <a:t> · reads the request</a:t>
            </a:r>
            <a:endParaRPr lang="en-US" sz="850" dirty="0"/>
          </a:p>
        </p:txBody>
      </p:sp>
      <p:sp>
        <p:nvSpPr>
          <p:cNvPr id="52" name="Text 47"/>
          <p:cNvSpPr txBox="1"/>
          <p:nvPr/>
        </p:nvSpPr>
        <p:spPr>
          <a:xfrm>
            <a:off x="4041648" y="2048256"/>
            <a:ext cx="1847088" cy="219456"/>
          </a:xfrm>
          <a:prstGeom prst="rect">
            <a:avLst/>
          </a:prstGeom>
          <a:noFill/>
          <a:ln/>
        </p:spPr>
        <p:txBody>
          <a:bodyPr wrap="square" lIns="0" tIns="0" rIns="0" bIns="0" rtlCol="0" anchor="t"/>
          <a:lstStyle/>
          <a:p>
            <a:pPr indent="0" marL="0">
              <a:lnSpc>
                <a:spcPct val="90000"/>
              </a:lnSpc>
              <a:buNone/>
            </a:pPr>
            <a:r>
              <a:rPr lang="en-US" sz="680" dirty="0">
                <a:solidFill>
                  <a:srgbClr val="5B6475"/>
                </a:solidFill>
                <a:latin typeface="Calibri" pitchFamily="34" charset="0"/>
                <a:ea typeface="Calibri" pitchFamily="34" charset="-122"/>
                <a:cs typeface="Calibri" pitchFamily="34" charset="-120"/>
              </a:rPr>
              <a:t>Masks card data, runs guardrails; the AI picks one allowed action</a:t>
            </a:r>
            <a:endParaRPr lang="en-US" sz="680" dirty="0"/>
          </a:p>
        </p:txBody>
      </p:sp>
      <p:sp>
        <p:nvSpPr>
          <p:cNvPr id="53" name="Shape 48"/>
          <p:cNvSpPr/>
          <p:nvPr/>
        </p:nvSpPr>
        <p:spPr>
          <a:xfrm>
            <a:off x="5596128" y="1911096"/>
            <a:ext cx="329184" cy="137160"/>
          </a:xfrm>
          <a:prstGeom prst="roundRect">
            <a:avLst>
              <a:gd name="adj" fmla="val 26667"/>
            </a:avLst>
          </a:prstGeom>
          <a:solidFill>
            <a:srgbClr val="E4572E"/>
          </a:solidFill>
          <a:ln w="12700">
            <a:solidFill>
              <a:srgbClr val="E4572E"/>
            </a:solidFill>
            <a:prstDash val="solid"/>
          </a:ln>
        </p:spPr>
      </p:sp>
      <p:sp>
        <p:nvSpPr>
          <p:cNvPr id="54" name="Text 49"/>
          <p:cNvSpPr txBox="1"/>
          <p:nvPr/>
        </p:nvSpPr>
        <p:spPr>
          <a:xfrm>
            <a:off x="5596128" y="1911096"/>
            <a:ext cx="329184" cy="137160"/>
          </a:xfrm>
          <a:prstGeom prst="rect">
            <a:avLst/>
          </a:prstGeom>
          <a:noFill/>
          <a:ln/>
        </p:spPr>
        <p:txBody>
          <a:bodyPr wrap="square" lIns="0" tIns="0" rIns="0" bIns="0"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AI</a:t>
            </a:r>
            <a:endParaRPr lang="en-US" sz="650" dirty="0"/>
          </a:p>
        </p:txBody>
      </p:sp>
      <p:sp>
        <p:nvSpPr>
          <p:cNvPr id="55" name="SneakPeek"/>
          <p:cNvSpPr/>
          <p:nvPr/>
        </p:nvSpPr>
        <p:spPr>
          <a:xfrm>
            <a:off x="3621024" y="2322576"/>
            <a:ext cx="2359152" cy="411480"/>
          </a:xfrm>
          <a:prstGeom prst="roundRect">
            <a:avLst>
              <a:gd name="adj" fmla="val 13333"/>
            </a:avLst>
          </a:prstGeom>
          <a:solidFill>
            <a:srgbClr val="F8F6FF"/>
          </a:solidFill>
          <a:ln w="9525">
            <a:solidFill>
              <a:srgbClr val="E2DCFB"/>
            </a:solidFill>
            <a:prstDash val="solid"/>
          </a:ln>
        </p:spPr>
      </p:sp>
      <p:sp>
        <p:nvSpPr>
          <p:cNvPr id="56" name="Shape 51"/>
          <p:cNvSpPr/>
          <p:nvPr/>
        </p:nvSpPr>
        <p:spPr>
          <a:xfrm>
            <a:off x="3675888" y="2377440"/>
            <a:ext cx="301752" cy="301752"/>
          </a:xfrm>
          <a:prstGeom prst="roundRect">
            <a:avLst>
              <a:gd name="adj" fmla="val 18182"/>
            </a:avLst>
          </a:prstGeom>
          <a:solidFill>
            <a:srgbClr val="6D4FE0"/>
          </a:solidFill>
          <a:ln w="12700">
            <a:solidFill>
              <a:srgbClr val="6D4FE0"/>
            </a:solidFill>
            <a:prstDash val="solid"/>
          </a:ln>
        </p:spPr>
      </p:sp>
      <p:sp>
        <p:nvSpPr>
          <p:cNvPr id="57" name="Text 52"/>
          <p:cNvSpPr txBox="1"/>
          <p:nvPr/>
        </p:nvSpPr>
        <p:spPr>
          <a:xfrm>
            <a:off x="3675888" y="2377440"/>
            <a:ext cx="301752" cy="30175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SP</a:t>
            </a:r>
            <a:endParaRPr lang="en-US" sz="900" dirty="0"/>
          </a:p>
        </p:txBody>
      </p:sp>
      <p:sp>
        <p:nvSpPr>
          <p:cNvPr id="58" name="Text 53"/>
          <p:cNvSpPr txBox="1"/>
          <p:nvPr/>
        </p:nvSpPr>
        <p:spPr>
          <a:xfrm>
            <a:off x="4041648" y="2359152"/>
            <a:ext cx="1481328" cy="155448"/>
          </a:xfrm>
          <a:prstGeom prst="rect">
            <a:avLst/>
          </a:prstGeom>
          <a:noFill/>
          <a:ln/>
        </p:spPr>
        <p:txBody>
          <a:bodyPr wrap="square" lIns="0" tIns="0" rIns="0" bIns="0" rtlCol="0" anchor="t"/>
          <a:lstStyle/>
          <a:p>
            <a:pPr indent="0" marL="0">
              <a:buNone/>
            </a:pPr>
            <a:r>
              <a:rPr lang="en-US" sz="850" b="1" dirty="0">
                <a:solidFill>
                  <a:srgbClr val="1F2937"/>
                </a:solidFill>
                <a:latin typeface="Calibri" pitchFamily="34" charset="0"/>
                <a:ea typeface="Calibri" pitchFamily="34" charset="-122"/>
                <a:cs typeface="Calibri" pitchFamily="34" charset="-120"/>
              </a:rPr>
              <a:t>SneakPeek</a:t>
            </a:r>
            <a:pPr indent="0" marL="0">
              <a:buNone/>
            </a:pPr>
            <a:r>
              <a:rPr lang="en-US" sz="850" dirty="0">
                <a:solidFill>
                  <a:srgbClr val="1F2937"/>
                </a:solidFill>
                <a:latin typeface="Calibri" pitchFamily="34" charset="0"/>
                <a:ea typeface="Calibri" pitchFamily="34" charset="-122"/>
                <a:cs typeface="Calibri" pitchFamily="34" charset="-120"/>
              </a:rPr>
              <a:t> · finds products</a:t>
            </a:r>
            <a:endParaRPr lang="en-US" sz="850" dirty="0"/>
          </a:p>
        </p:txBody>
      </p:sp>
      <p:sp>
        <p:nvSpPr>
          <p:cNvPr id="59" name="Text 54"/>
          <p:cNvSpPr txBox="1"/>
          <p:nvPr/>
        </p:nvSpPr>
        <p:spPr>
          <a:xfrm>
            <a:off x="4041648" y="2505456"/>
            <a:ext cx="1847088" cy="219456"/>
          </a:xfrm>
          <a:prstGeom prst="rect">
            <a:avLst/>
          </a:prstGeom>
          <a:noFill/>
          <a:ln/>
        </p:spPr>
        <p:txBody>
          <a:bodyPr wrap="square" lIns="0" tIns="0" rIns="0" bIns="0" rtlCol="0" anchor="t"/>
          <a:lstStyle/>
          <a:p>
            <a:pPr indent="0" marL="0">
              <a:lnSpc>
                <a:spcPct val="90000"/>
              </a:lnSpc>
              <a:buNone/>
            </a:pPr>
            <a:r>
              <a:rPr lang="en-US" sz="680" dirty="0">
                <a:solidFill>
                  <a:srgbClr val="5B6475"/>
                </a:solidFill>
                <a:latin typeface="Calibri" pitchFamily="34" charset="0"/>
                <a:ea typeface="Calibri" pitchFamily="34" charset="-122"/>
                <a:cs typeface="Calibri" pitchFamily="34" charset="-120"/>
              </a:rPr>
              <a:t>Searches ShopSphere's catalog; the AI writes reasons from facts only</a:t>
            </a:r>
            <a:endParaRPr lang="en-US" sz="680" dirty="0"/>
          </a:p>
        </p:txBody>
      </p:sp>
      <p:sp>
        <p:nvSpPr>
          <p:cNvPr id="60" name="Shape 55"/>
          <p:cNvSpPr/>
          <p:nvPr/>
        </p:nvSpPr>
        <p:spPr>
          <a:xfrm>
            <a:off x="5596128" y="2368296"/>
            <a:ext cx="329184" cy="137160"/>
          </a:xfrm>
          <a:prstGeom prst="roundRect">
            <a:avLst>
              <a:gd name="adj" fmla="val 26667"/>
            </a:avLst>
          </a:prstGeom>
          <a:solidFill>
            <a:srgbClr val="E4572E"/>
          </a:solidFill>
          <a:ln w="12700">
            <a:solidFill>
              <a:srgbClr val="E4572E"/>
            </a:solidFill>
            <a:prstDash val="solid"/>
          </a:ln>
        </p:spPr>
      </p:sp>
      <p:sp>
        <p:nvSpPr>
          <p:cNvPr id="61" name="Text 56"/>
          <p:cNvSpPr txBox="1"/>
          <p:nvPr/>
        </p:nvSpPr>
        <p:spPr>
          <a:xfrm>
            <a:off x="5596128" y="2368296"/>
            <a:ext cx="329184" cy="137160"/>
          </a:xfrm>
          <a:prstGeom prst="rect">
            <a:avLst/>
          </a:prstGeom>
          <a:noFill/>
          <a:ln/>
        </p:spPr>
        <p:txBody>
          <a:bodyPr wrap="square" lIns="0" tIns="0" rIns="0" bIns="0"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AI</a:t>
            </a:r>
            <a:endParaRPr lang="en-US" sz="650" dirty="0"/>
          </a:p>
        </p:txBody>
      </p:sp>
      <p:sp>
        <p:nvSpPr>
          <p:cNvPr id="62" name="CartUp"/>
          <p:cNvSpPr/>
          <p:nvPr/>
        </p:nvSpPr>
        <p:spPr>
          <a:xfrm>
            <a:off x="3621024" y="2779776"/>
            <a:ext cx="2359152" cy="411480"/>
          </a:xfrm>
          <a:prstGeom prst="roundRect">
            <a:avLst>
              <a:gd name="adj" fmla="val 13333"/>
            </a:avLst>
          </a:prstGeom>
          <a:solidFill>
            <a:srgbClr val="F8F6FF"/>
          </a:solidFill>
          <a:ln w="9525">
            <a:solidFill>
              <a:srgbClr val="E2DCFB"/>
            </a:solidFill>
            <a:prstDash val="solid"/>
          </a:ln>
        </p:spPr>
      </p:sp>
      <p:sp>
        <p:nvSpPr>
          <p:cNvPr id="63" name="Shape 58"/>
          <p:cNvSpPr/>
          <p:nvPr/>
        </p:nvSpPr>
        <p:spPr>
          <a:xfrm>
            <a:off x="3675888" y="2834640"/>
            <a:ext cx="301752" cy="301752"/>
          </a:xfrm>
          <a:prstGeom prst="roundRect">
            <a:avLst>
              <a:gd name="adj" fmla="val 18182"/>
            </a:avLst>
          </a:prstGeom>
          <a:solidFill>
            <a:srgbClr val="7C5CE6"/>
          </a:solidFill>
          <a:ln w="12700">
            <a:solidFill>
              <a:srgbClr val="7C5CE6"/>
            </a:solidFill>
            <a:prstDash val="solid"/>
          </a:ln>
        </p:spPr>
      </p:sp>
      <p:sp>
        <p:nvSpPr>
          <p:cNvPr id="64" name="Text 59"/>
          <p:cNvSpPr txBox="1"/>
          <p:nvPr/>
        </p:nvSpPr>
        <p:spPr>
          <a:xfrm>
            <a:off x="3675888" y="2834640"/>
            <a:ext cx="301752" cy="30175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CU</a:t>
            </a:r>
            <a:endParaRPr lang="en-US" sz="900" dirty="0"/>
          </a:p>
        </p:txBody>
      </p:sp>
      <p:sp>
        <p:nvSpPr>
          <p:cNvPr id="65" name="Text 60"/>
          <p:cNvSpPr txBox="1"/>
          <p:nvPr/>
        </p:nvSpPr>
        <p:spPr>
          <a:xfrm>
            <a:off x="4041648" y="2816352"/>
            <a:ext cx="1481328" cy="155448"/>
          </a:xfrm>
          <a:prstGeom prst="rect">
            <a:avLst/>
          </a:prstGeom>
          <a:noFill/>
          <a:ln/>
        </p:spPr>
        <p:txBody>
          <a:bodyPr wrap="square" lIns="0" tIns="0" rIns="0" bIns="0" rtlCol="0" anchor="t"/>
          <a:lstStyle/>
          <a:p>
            <a:pPr indent="0" marL="0">
              <a:buNone/>
            </a:pPr>
            <a:r>
              <a:rPr lang="en-US" sz="850" b="1" dirty="0">
                <a:solidFill>
                  <a:srgbClr val="1F2937"/>
                </a:solidFill>
                <a:latin typeface="Calibri" pitchFamily="34" charset="0"/>
                <a:ea typeface="Calibri" pitchFamily="34" charset="-122"/>
                <a:cs typeface="Calibri" pitchFamily="34" charset="-120"/>
              </a:rPr>
              <a:t>CartUp</a:t>
            </a:r>
            <a:pPr indent="0" marL="0">
              <a:buNone/>
            </a:pPr>
            <a:r>
              <a:rPr lang="en-US" sz="850" dirty="0">
                <a:solidFill>
                  <a:srgbClr val="1F2937"/>
                </a:solidFill>
                <a:latin typeface="Calibri" pitchFamily="34" charset="0"/>
                <a:ea typeface="Calibri" pitchFamily="34" charset="-122"/>
                <a:cs typeface="Calibri" pitchFamily="34" charset="-120"/>
              </a:rPr>
              <a:t> · cart + checkout</a:t>
            </a:r>
            <a:endParaRPr lang="en-US" sz="850" dirty="0"/>
          </a:p>
        </p:txBody>
      </p:sp>
      <p:sp>
        <p:nvSpPr>
          <p:cNvPr id="66" name="Text 61"/>
          <p:cNvSpPr txBox="1"/>
          <p:nvPr/>
        </p:nvSpPr>
        <p:spPr>
          <a:xfrm>
            <a:off x="4041648" y="2962656"/>
            <a:ext cx="1847088" cy="219456"/>
          </a:xfrm>
          <a:prstGeom prst="rect">
            <a:avLst/>
          </a:prstGeom>
          <a:noFill/>
          <a:ln/>
        </p:spPr>
        <p:txBody>
          <a:bodyPr wrap="square" lIns="0" tIns="0" rIns="0" bIns="0" rtlCol="0" anchor="t"/>
          <a:lstStyle/>
          <a:p>
            <a:pPr indent="0" marL="0">
              <a:lnSpc>
                <a:spcPct val="90000"/>
              </a:lnSpc>
              <a:buNone/>
            </a:pPr>
            <a:r>
              <a:rPr lang="en-US" sz="680" dirty="0">
                <a:solidFill>
                  <a:srgbClr val="5B6475"/>
                </a:solidFill>
                <a:latin typeface="Calibri" pitchFamily="34" charset="0"/>
                <a:ea typeface="Calibri" pitchFamily="34" charset="-122"/>
                <a:cs typeface="Calibri" pitchFamily="34" charset="-120"/>
              </a:rPr>
              <a:t>Checks stock, sign-in and card holder; builds the checkout</a:t>
            </a:r>
            <a:endParaRPr lang="en-US" sz="680" dirty="0"/>
          </a:p>
        </p:txBody>
      </p:sp>
      <p:sp>
        <p:nvSpPr>
          <p:cNvPr id="67" name="Shape 62"/>
          <p:cNvSpPr/>
          <p:nvPr/>
        </p:nvSpPr>
        <p:spPr>
          <a:xfrm>
            <a:off x="5596128" y="2825496"/>
            <a:ext cx="329184" cy="137160"/>
          </a:xfrm>
          <a:prstGeom prst="roundRect">
            <a:avLst>
              <a:gd name="adj" fmla="val 26667"/>
            </a:avLst>
          </a:prstGeom>
          <a:solidFill>
            <a:srgbClr val="94A3B8"/>
          </a:solidFill>
          <a:ln w="12700">
            <a:solidFill>
              <a:srgbClr val="94A3B8"/>
            </a:solidFill>
            <a:prstDash val="solid"/>
          </a:ln>
        </p:spPr>
      </p:sp>
      <p:sp>
        <p:nvSpPr>
          <p:cNvPr id="68" name="Text 63"/>
          <p:cNvSpPr txBox="1"/>
          <p:nvPr/>
        </p:nvSpPr>
        <p:spPr>
          <a:xfrm>
            <a:off x="5596128" y="2825496"/>
            <a:ext cx="329184" cy="137160"/>
          </a:xfrm>
          <a:prstGeom prst="rect">
            <a:avLst/>
          </a:prstGeom>
          <a:noFill/>
          <a:ln/>
        </p:spPr>
        <p:txBody>
          <a:bodyPr wrap="square" lIns="0" tIns="0" rIns="0" bIns="0"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code</a:t>
            </a:r>
            <a:endParaRPr lang="en-US" sz="650" dirty="0"/>
          </a:p>
        </p:txBody>
      </p:sp>
      <p:sp>
        <p:nvSpPr>
          <p:cNvPr id="69" name="GreenLight"/>
          <p:cNvSpPr/>
          <p:nvPr/>
        </p:nvSpPr>
        <p:spPr>
          <a:xfrm>
            <a:off x="3621024" y="3236976"/>
            <a:ext cx="2359152" cy="411480"/>
          </a:xfrm>
          <a:prstGeom prst="roundRect">
            <a:avLst>
              <a:gd name="adj" fmla="val 13333"/>
            </a:avLst>
          </a:prstGeom>
          <a:solidFill>
            <a:srgbClr val="F8F6FF"/>
          </a:solidFill>
          <a:ln w="9525">
            <a:solidFill>
              <a:srgbClr val="E2DCFB"/>
            </a:solidFill>
            <a:prstDash val="solid"/>
          </a:ln>
        </p:spPr>
      </p:sp>
      <p:sp>
        <p:nvSpPr>
          <p:cNvPr id="70" name="Shape 65"/>
          <p:cNvSpPr/>
          <p:nvPr/>
        </p:nvSpPr>
        <p:spPr>
          <a:xfrm>
            <a:off x="3675888" y="3291840"/>
            <a:ext cx="301752" cy="301752"/>
          </a:xfrm>
          <a:prstGeom prst="roundRect">
            <a:avLst>
              <a:gd name="adj" fmla="val 18182"/>
            </a:avLst>
          </a:prstGeom>
          <a:solidFill>
            <a:srgbClr val="15803D"/>
          </a:solidFill>
          <a:ln w="12700">
            <a:solidFill>
              <a:srgbClr val="15803D"/>
            </a:solidFill>
            <a:prstDash val="solid"/>
          </a:ln>
        </p:spPr>
      </p:sp>
      <p:sp>
        <p:nvSpPr>
          <p:cNvPr id="71" name="Text 66"/>
          <p:cNvSpPr txBox="1"/>
          <p:nvPr/>
        </p:nvSpPr>
        <p:spPr>
          <a:xfrm>
            <a:off x="3675888" y="3291840"/>
            <a:ext cx="301752" cy="30175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GL</a:t>
            </a:r>
            <a:endParaRPr lang="en-US" sz="900" dirty="0"/>
          </a:p>
        </p:txBody>
      </p:sp>
      <p:sp>
        <p:nvSpPr>
          <p:cNvPr id="72" name="Text 67"/>
          <p:cNvSpPr txBox="1"/>
          <p:nvPr/>
        </p:nvSpPr>
        <p:spPr>
          <a:xfrm>
            <a:off x="4041648" y="3273552"/>
            <a:ext cx="1481328" cy="155448"/>
          </a:xfrm>
          <a:prstGeom prst="rect">
            <a:avLst/>
          </a:prstGeom>
          <a:noFill/>
          <a:ln/>
        </p:spPr>
        <p:txBody>
          <a:bodyPr wrap="square" lIns="0" tIns="0" rIns="0" bIns="0" rtlCol="0" anchor="t"/>
          <a:lstStyle/>
          <a:p>
            <a:pPr indent="0" marL="0">
              <a:buNone/>
            </a:pPr>
            <a:r>
              <a:rPr lang="en-US" sz="850" b="1" dirty="0">
                <a:solidFill>
                  <a:srgbClr val="1F2937"/>
                </a:solidFill>
                <a:latin typeface="Calibri" pitchFamily="34" charset="0"/>
                <a:ea typeface="Calibri" pitchFamily="34" charset="-122"/>
                <a:cs typeface="Calibri" pitchFamily="34" charset="-120"/>
              </a:rPr>
              <a:t>GreenLight</a:t>
            </a:r>
            <a:pPr indent="0" marL="0">
              <a:buNone/>
            </a:pPr>
            <a:r>
              <a:rPr lang="en-US" sz="850" dirty="0">
                <a:solidFill>
                  <a:srgbClr val="1F2937"/>
                </a:solidFill>
                <a:latin typeface="Calibri" pitchFamily="34" charset="0"/>
                <a:ea typeface="Calibri" pitchFamily="34" charset="-122"/>
                <a:cs typeface="Calibri" pitchFamily="34" charset="-120"/>
              </a:rPr>
              <a:t> · approval + token</a:t>
            </a:r>
            <a:endParaRPr lang="en-US" sz="850" dirty="0"/>
          </a:p>
        </p:txBody>
      </p:sp>
      <p:sp>
        <p:nvSpPr>
          <p:cNvPr id="73" name="Text 68"/>
          <p:cNvSpPr txBox="1"/>
          <p:nvPr/>
        </p:nvSpPr>
        <p:spPr>
          <a:xfrm>
            <a:off x="4041648" y="3419856"/>
            <a:ext cx="1847088" cy="219456"/>
          </a:xfrm>
          <a:prstGeom prst="rect">
            <a:avLst/>
          </a:prstGeom>
          <a:noFill/>
          <a:ln/>
        </p:spPr>
        <p:txBody>
          <a:bodyPr wrap="square" lIns="0" tIns="0" rIns="0" bIns="0" rtlCol="0" anchor="t"/>
          <a:lstStyle/>
          <a:p>
            <a:pPr indent="0" marL="0">
              <a:lnSpc>
                <a:spcPct val="90000"/>
              </a:lnSpc>
              <a:buNone/>
            </a:pPr>
            <a:r>
              <a:rPr lang="en-US" sz="680" dirty="0">
                <a:solidFill>
                  <a:srgbClr val="5B6475"/>
                </a:solidFill>
                <a:latin typeface="Calibri" pitchFamily="34" charset="0"/>
                <a:ea typeface="Calibri" pitchFamily="34" charset="-122"/>
                <a:cs typeface="Calibri" pitchFamily="34" charset="-120"/>
              </a:rPr>
              <a:t>Checks scope, records consent, signs a single-use token</a:t>
            </a:r>
            <a:endParaRPr lang="en-US" sz="680" dirty="0"/>
          </a:p>
        </p:txBody>
      </p:sp>
      <p:sp>
        <p:nvSpPr>
          <p:cNvPr id="74" name="Shape 69"/>
          <p:cNvSpPr/>
          <p:nvPr/>
        </p:nvSpPr>
        <p:spPr>
          <a:xfrm>
            <a:off x="5596128" y="3282696"/>
            <a:ext cx="329184" cy="137160"/>
          </a:xfrm>
          <a:prstGeom prst="roundRect">
            <a:avLst>
              <a:gd name="adj" fmla="val 26667"/>
            </a:avLst>
          </a:prstGeom>
          <a:solidFill>
            <a:srgbClr val="94A3B8"/>
          </a:solidFill>
          <a:ln w="12700">
            <a:solidFill>
              <a:srgbClr val="94A3B8"/>
            </a:solidFill>
            <a:prstDash val="solid"/>
          </a:ln>
        </p:spPr>
      </p:sp>
      <p:sp>
        <p:nvSpPr>
          <p:cNvPr id="75" name="Text 70"/>
          <p:cNvSpPr txBox="1"/>
          <p:nvPr/>
        </p:nvSpPr>
        <p:spPr>
          <a:xfrm>
            <a:off x="5596128" y="3282696"/>
            <a:ext cx="329184" cy="137160"/>
          </a:xfrm>
          <a:prstGeom prst="rect">
            <a:avLst/>
          </a:prstGeom>
          <a:noFill/>
          <a:ln/>
        </p:spPr>
        <p:txBody>
          <a:bodyPr wrap="square" lIns="0" tIns="0" rIns="0" bIns="0"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code</a:t>
            </a:r>
            <a:endParaRPr lang="en-US" sz="650" dirty="0"/>
          </a:p>
        </p:txBody>
      </p:sp>
      <p:sp>
        <p:nvSpPr>
          <p:cNvPr id="76" name="PayIt"/>
          <p:cNvSpPr/>
          <p:nvPr/>
        </p:nvSpPr>
        <p:spPr>
          <a:xfrm>
            <a:off x="3621024" y="3694176"/>
            <a:ext cx="2359152" cy="411480"/>
          </a:xfrm>
          <a:prstGeom prst="roundRect">
            <a:avLst>
              <a:gd name="adj" fmla="val 13333"/>
            </a:avLst>
          </a:prstGeom>
          <a:solidFill>
            <a:srgbClr val="F8F6FF"/>
          </a:solidFill>
          <a:ln w="9525">
            <a:solidFill>
              <a:srgbClr val="E2DCFB"/>
            </a:solidFill>
            <a:prstDash val="solid"/>
          </a:ln>
        </p:spPr>
      </p:sp>
      <p:sp>
        <p:nvSpPr>
          <p:cNvPr id="77" name="Shape 72"/>
          <p:cNvSpPr/>
          <p:nvPr/>
        </p:nvSpPr>
        <p:spPr>
          <a:xfrm>
            <a:off x="3675888" y="3749040"/>
            <a:ext cx="301752" cy="301752"/>
          </a:xfrm>
          <a:prstGeom prst="roundRect">
            <a:avLst>
              <a:gd name="adj" fmla="val 18182"/>
            </a:avLst>
          </a:prstGeom>
          <a:solidFill>
            <a:srgbClr val="C1123A"/>
          </a:solidFill>
          <a:ln w="12700">
            <a:solidFill>
              <a:srgbClr val="C1123A"/>
            </a:solidFill>
            <a:prstDash val="solid"/>
          </a:ln>
        </p:spPr>
      </p:sp>
      <p:sp>
        <p:nvSpPr>
          <p:cNvPr id="78" name="Text 73"/>
          <p:cNvSpPr txBox="1"/>
          <p:nvPr/>
        </p:nvSpPr>
        <p:spPr>
          <a:xfrm>
            <a:off x="3675888" y="3749040"/>
            <a:ext cx="301752" cy="30175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PI</a:t>
            </a:r>
            <a:endParaRPr lang="en-US" sz="900" dirty="0"/>
          </a:p>
        </p:txBody>
      </p:sp>
      <p:sp>
        <p:nvSpPr>
          <p:cNvPr id="79" name="Text 74"/>
          <p:cNvSpPr txBox="1"/>
          <p:nvPr/>
        </p:nvSpPr>
        <p:spPr>
          <a:xfrm>
            <a:off x="4041648" y="3730752"/>
            <a:ext cx="1481328" cy="155448"/>
          </a:xfrm>
          <a:prstGeom prst="rect">
            <a:avLst/>
          </a:prstGeom>
          <a:noFill/>
          <a:ln/>
        </p:spPr>
        <p:txBody>
          <a:bodyPr wrap="square" lIns="0" tIns="0" rIns="0" bIns="0" rtlCol="0" anchor="t"/>
          <a:lstStyle/>
          <a:p>
            <a:pPr indent="0" marL="0">
              <a:buNone/>
            </a:pPr>
            <a:r>
              <a:rPr lang="en-US" sz="850" b="1" dirty="0">
                <a:solidFill>
                  <a:srgbClr val="1F2937"/>
                </a:solidFill>
                <a:latin typeface="Calibri" pitchFamily="34" charset="0"/>
                <a:ea typeface="Calibri" pitchFamily="34" charset="-122"/>
                <a:cs typeface="Calibri" pitchFamily="34" charset="-120"/>
              </a:rPr>
              <a:t>PayIt</a:t>
            </a:r>
            <a:pPr indent="0" marL="0">
              <a:buNone/>
            </a:pPr>
            <a:r>
              <a:rPr lang="en-US" sz="850" dirty="0">
                <a:solidFill>
                  <a:srgbClr val="1F2937"/>
                </a:solidFill>
                <a:latin typeface="Calibri" pitchFamily="34" charset="0"/>
                <a:ea typeface="Calibri" pitchFamily="34" charset="-122"/>
                <a:cs typeface="Calibri" pitchFamily="34" charset="-120"/>
              </a:rPr>
              <a:t> · checks + payment</a:t>
            </a:r>
            <a:endParaRPr lang="en-US" sz="850" dirty="0"/>
          </a:p>
        </p:txBody>
      </p:sp>
      <p:sp>
        <p:nvSpPr>
          <p:cNvPr id="80" name="Text 75"/>
          <p:cNvSpPr txBox="1"/>
          <p:nvPr/>
        </p:nvSpPr>
        <p:spPr>
          <a:xfrm>
            <a:off x="4041648" y="3877056"/>
            <a:ext cx="1847088" cy="219456"/>
          </a:xfrm>
          <a:prstGeom prst="rect">
            <a:avLst/>
          </a:prstGeom>
          <a:noFill/>
          <a:ln/>
        </p:spPr>
        <p:txBody>
          <a:bodyPr wrap="square" lIns="0" tIns="0" rIns="0" bIns="0" rtlCol="0" anchor="t"/>
          <a:lstStyle/>
          <a:p>
            <a:pPr indent="0" marL="0">
              <a:lnSpc>
                <a:spcPct val="90000"/>
              </a:lnSpc>
              <a:buNone/>
            </a:pPr>
            <a:r>
              <a:rPr lang="en-US" sz="680" dirty="0">
                <a:solidFill>
                  <a:srgbClr val="5B6475"/>
                </a:solidFill>
                <a:latin typeface="Calibri" pitchFamily="34" charset="0"/>
                <a:ea typeface="Calibri" pitchFamily="34" charset="-122"/>
                <a:cs typeface="Calibri" pitchFamily="34" charset="-120"/>
              </a:rPr>
              <a:t>Verifies the token, runs 12 checks, pays by one route</a:t>
            </a:r>
            <a:endParaRPr lang="en-US" sz="680" dirty="0"/>
          </a:p>
        </p:txBody>
      </p:sp>
      <p:sp>
        <p:nvSpPr>
          <p:cNvPr id="81" name="Shape 76"/>
          <p:cNvSpPr/>
          <p:nvPr/>
        </p:nvSpPr>
        <p:spPr>
          <a:xfrm>
            <a:off x="5596128" y="3739896"/>
            <a:ext cx="329184" cy="137160"/>
          </a:xfrm>
          <a:prstGeom prst="roundRect">
            <a:avLst>
              <a:gd name="adj" fmla="val 26667"/>
            </a:avLst>
          </a:prstGeom>
          <a:solidFill>
            <a:srgbClr val="94A3B8"/>
          </a:solidFill>
          <a:ln w="12700">
            <a:solidFill>
              <a:srgbClr val="94A3B8"/>
            </a:solidFill>
            <a:prstDash val="solid"/>
          </a:ln>
        </p:spPr>
      </p:sp>
      <p:sp>
        <p:nvSpPr>
          <p:cNvPr id="82" name="Text 77"/>
          <p:cNvSpPr txBox="1"/>
          <p:nvPr/>
        </p:nvSpPr>
        <p:spPr>
          <a:xfrm>
            <a:off x="5596128" y="3739896"/>
            <a:ext cx="329184" cy="137160"/>
          </a:xfrm>
          <a:prstGeom prst="rect">
            <a:avLst/>
          </a:prstGeom>
          <a:noFill/>
          <a:ln/>
        </p:spPr>
        <p:txBody>
          <a:bodyPr wrap="square" lIns="0" tIns="0" rIns="0" bIns="0"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code</a:t>
            </a:r>
            <a:endParaRPr lang="en-US" sz="650" dirty="0"/>
          </a:p>
        </p:txBody>
      </p:sp>
      <p:sp>
        <p:nvSpPr>
          <p:cNvPr id="83" name="TrackIt"/>
          <p:cNvSpPr/>
          <p:nvPr/>
        </p:nvSpPr>
        <p:spPr>
          <a:xfrm>
            <a:off x="3621024" y="4151376"/>
            <a:ext cx="2359152" cy="411480"/>
          </a:xfrm>
          <a:prstGeom prst="roundRect">
            <a:avLst>
              <a:gd name="adj" fmla="val 13333"/>
            </a:avLst>
          </a:prstGeom>
          <a:solidFill>
            <a:srgbClr val="F8F6FF"/>
          </a:solidFill>
          <a:ln w="9525">
            <a:solidFill>
              <a:srgbClr val="E2DCFB"/>
            </a:solidFill>
            <a:prstDash val="solid"/>
          </a:ln>
        </p:spPr>
      </p:sp>
      <p:sp>
        <p:nvSpPr>
          <p:cNvPr id="84" name="Shape 79"/>
          <p:cNvSpPr/>
          <p:nvPr/>
        </p:nvSpPr>
        <p:spPr>
          <a:xfrm>
            <a:off x="3675888" y="4206240"/>
            <a:ext cx="301752" cy="301752"/>
          </a:xfrm>
          <a:prstGeom prst="roundRect">
            <a:avLst>
              <a:gd name="adj" fmla="val 18182"/>
            </a:avLst>
          </a:prstGeom>
          <a:solidFill>
            <a:srgbClr val="2563EB"/>
          </a:solidFill>
          <a:ln w="12700">
            <a:solidFill>
              <a:srgbClr val="2563EB"/>
            </a:solidFill>
            <a:prstDash val="solid"/>
          </a:ln>
        </p:spPr>
      </p:sp>
      <p:sp>
        <p:nvSpPr>
          <p:cNvPr id="85" name="Text 80"/>
          <p:cNvSpPr txBox="1"/>
          <p:nvPr/>
        </p:nvSpPr>
        <p:spPr>
          <a:xfrm>
            <a:off x="3675888" y="4206240"/>
            <a:ext cx="301752" cy="30175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TI</a:t>
            </a:r>
            <a:endParaRPr lang="en-US" sz="900" dirty="0"/>
          </a:p>
        </p:txBody>
      </p:sp>
      <p:sp>
        <p:nvSpPr>
          <p:cNvPr id="86" name="Text 81"/>
          <p:cNvSpPr txBox="1"/>
          <p:nvPr/>
        </p:nvSpPr>
        <p:spPr>
          <a:xfrm>
            <a:off x="4041648" y="4187952"/>
            <a:ext cx="1481328" cy="155448"/>
          </a:xfrm>
          <a:prstGeom prst="rect">
            <a:avLst/>
          </a:prstGeom>
          <a:noFill/>
          <a:ln/>
        </p:spPr>
        <p:txBody>
          <a:bodyPr wrap="square" lIns="0" tIns="0" rIns="0" bIns="0" rtlCol="0" anchor="t"/>
          <a:lstStyle/>
          <a:p>
            <a:pPr indent="0" marL="0">
              <a:buNone/>
            </a:pPr>
            <a:r>
              <a:rPr lang="en-US" sz="850" b="1" dirty="0">
                <a:solidFill>
                  <a:srgbClr val="1F2937"/>
                </a:solidFill>
                <a:latin typeface="Calibri" pitchFamily="34" charset="0"/>
                <a:ea typeface="Calibri" pitchFamily="34" charset="-122"/>
                <a:cs typeface="Calibri" pitchFamily="34" charset="-120"/>
              </a:rPr>
              <a:t>TrackIt</a:t>
            </a:r>
            <a:pPr indent="0" marL="0">
              <a:buNone/>
            </a:pPr>
            <a:r>
              <a:rPr lang="en-US" sz="850" dirty="0">
                <a:solidFill>
                  <a:srgbClr val="1F2937"/>
                </a:solidFill>
                <a:latin typeface="Calibri" pitchFamily="34" charset="0"/>
                <a:ea typeface="Calibri" pitchFamily="34" charset="-122"/>
                <a:cs typeface="Calibri" pitchFamily="34" charset="-120"/>
              </a:rPr>
              <a:t> · order + tracking</a:t>
            </a:r>
            <a:endParaRPr lang="en-US" sz="850" dirty="0"/>
          </a:p>
        </p:txBody>
      </p:sp>
      <p:sp>
        <p:nvSpPr>
          <p:cNvPr id="87" name="Text 82"/>
          <p:cNvSpPr txBox="1"/>
          <p:nvPr/>
        </p:nvSpPr>
        <p:spPr>
          <a:xfrm>
            <a:off x="4041648" y="4334256"/>
            <a:ext cx="1847088" cy="219456"/>
          </a:xfrm>
          <a:prstGeom prst="rect">
            <a:avLst/>
          </a:prstGeom>
          <a:noFill/>
          <a:ln/>
        </p:spPr>
        <p:txBody>
          <a:bodyPr wrap="square" lIns="0" tIns="0" rIns="0" bIns="0" rtlCol="0" anchor="t"/>
          <a:lstStyle/>
          <a:p>
            <a:pPr indent="0" marL="0">
              <a:lnSpc>
                <a:spcPct val="90000"/>
              </a:lnSpc>
              <a:buNone/>
            </a:pPr>
            <a:r>
              <a:rPr lang="en-US" sz="680" dirty="0">
                <a:solidFill>
                  <a:srgbClr val="5B6475"/>
                </a:solidFill>
                <a:latin typeface="Calibri" pitchFamily="34" charset="0"/>
                <a:ea typeface="Calibri" pitchFamily="34" charset="-122"/>
                <a:cs typeface="Calibri" pitchFamily="34" charset="-120"/>
              </a:rPr>
              <a:t>Creates the order once; confirmation email and tracking</a:t>
            </a:r>
            <a:endParaRPr lang="en-US" sz="680" dirty="0"/>
          </a:p>
        </p:txBody>
      </p:sp>
      <p:sp>
        <p:nvSpPr>
          <p:cNvPr id="88" name="Shape 83"/>
          <p:cNvSpPr/>
          <p:nvPr/>
        </p:nvSpPr>
        <p:spPr>
          <a:xfrm>
            <a:off x="5596128" y="4197096"/>
            <a:ext cx="329184" cy="137160"/>
          </a:xfrm>
          <a:prstGeom prst="roundRect">
            <a:avLst>
              <a:gd name="adj" fmla="val 26667"/>
            </a:avLst>
          </a:prstGeom>
          <a:solidFill>
            <a:srgbClr val="94A3B8"/>
          </a:solidFill>
          <a:ln w="12700">
            <a:solidFill>
              <a:srgbClr val="94A3B8"/>
            </a:solidFill>
            <a:prstDash val="solid"/>
          </a:ln>
        </p:spPr>
      </p:sp>
      <p:sp>
        <p:nvSpPr>
          <p:cNvPr id="89" name="Text 84"/>
          <p:cNvSpPr txBox="1"/>
          <p:nvPr/>
        </p:nvSpPr>
        <p:spPr>
          <a:xfrm>
            <a:off x="5596128" y="4197096"/>
            <a:ext cx="329184" cy="137160"/>
          </a:xfrm>
          <a:prstGeom prst="rect">
            <a:avLst/>
          </a:prstGeom>
          <a:noFill/>
          <a:ln/>
        </p:spPr>
        <p:txBody>
          <a:bodyPr wrap="square" lIns="0" tIns="0" rIns="0" bIns="0"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code</a:t>
            </a:r>
            <a:endParaRPr lang="en-US" sz="650" dirty="0"/>
          </a:p>
        </p:txBody>
      </p:sp>
      <p:sp>
        <p:nvSpPr>
          <p:cNvPr id="90" name="Step 3"/>
          <p:cNvSpPr/>
          <p:nvPr/>
        </p:nvSpPr>
        <p:spPr>
          <a:xfrm>
            <a:off x="2560320" y="2084832"/>
            <a:ext cx="896112" cy="713232"/>
          </a:xfrm>
          <a:prstGeom prst="roundRect">
            <a:avLst>
              <a:gd name="adj" fmla="val 10256"/>
            </a:avLst>
          </a:prstGeom>
          <a:solidFill>
            <a:srgbClr val="FFFFFF"/>
          </a:solidFill>
          <a:ln w="12700">
            <a:solidFill>
              <a:srgbClr val="2563EB"/>
            </a:solidFill>
            <a:prstDash val="solid"/>
          </a:ln>
        </p:spPr>
      </p:sp>
      <p:sp>
        <p:nvSpPr>
          <p:cNvPr id="91" name="Shape 86"/>
          <p:cNvSpPr/>
          <p:nvPr/>
        </p:nvSpPr>
        <p:spPr>
          <a:xfrm>
            <a:off x="2624328" y="2148840"/>
            <a:ext cx="201168" cy="201168"/>
          </a:xfrm>
          <a:prstGeom prst="ellipse">
            <a:avLst/>
          </a:prstGeom>
          <a:solidFill>
            <a:srgbClr val="2563EB"/>
          </a:solidFill>
          <a:ln w="6350">
            <a:solidFill>
              <a:srgbClr val="2563EB"/>
            </a:solidFill>
            <a:prstDash val="solid"/>
          </a:ln>
        </p:spPr>
      </p:sp>
      <p:sp>
        <p:nvSpPr>
          <p:cNvPr id="92" name="Text 87"/>
          <p:cNvSpPr txBox="1"/>
          <p:nvPr/>
        </p:nvSpPr>
        <p:spPr>
          <a:xfrm>
            <a:off x="2624328" y="2148840"/>
            <a:ext cx="201168" cy="20116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3</a:t>
            </a:r>
            <a:endParaRPr lang="en-US" sz="850" dirty="0"/>
          </a:p>
        </p:txBody>
      </p:sp>
      <p:sp>
        <p:nvSpPr>
          <p:cNvPr id="93" name="Text 88"/>
          <p:cNvSpPr txBox="1"/>
          <p:nvPr/>
        </p:nvSpPr>
        <p:spPr>
          <a:xfrm>
            <a:off x="2871216" y="2139696"/>
            <a:ext cx="530352" cy="621792"/>
          </a:xfrm>
          <a:prstGeom prst="rect">
            <a:avLst/>
          </a:prstGeom>
          <a:noFill/>
          <a:ln/>
        </p:spPr>
        <p:txBody>
          <a:bodyPr wrap="square" lIns="0" tIns="0" rIns="0" bIns="0" rtlCol="0" anchor="t"/>
          <a:lstStyle/>
          <a:p>
            <a:pPr indent="0" marL="0">
              <a:lnSpc>
                <a:spcPct val="95000"/>
              </a:lnSpc>
              <a:buNone/>
            </a:pPr>
            <a:r>
              <a:rPr lang="en-US" sz="750" b="1" dirty="0">
                <a:solidFill>
                  <a:srgbClr val="1F2937"/>
                </a:solidFill>
                <a:latin typeface="Calibri" pitchFamily="34" charset="0"/>
                <a:ea typeface="Calibri" pitchFamily="34" charset="-122"/>
                <a:cs typeface="Calibri" pitchFamily="34" charset="-120"/>
              </a:rPr>
              <a:t>Shopper picks</a:t>
            </a:r>
            <a:pPr indent="0" marL="0">
              <a:lnSpc>
                <a:spcPct val="95000"/>
              </a:lnSpc>
              <a:buNone/>
            </a:pPr>
            <a:r>
              <a:rPr lang="en-US" sz="750" dirty="0">
                <a:solidFill>
                  <a:srgbClr val="1F2937"/>
                </a:solidFill>
                <a:latin typeface="Calibri" pitchFamily="34" charset="0"/>
                <a:ea typeface="Calibri" pitchFamily="34" charset="-122"/>
                <a:cs typeface="Calibri" pitchFamily="34" charset="-120"/>
              </a:rPr>
              <a:t> size + colour; CartUp adds to cart.</a:t>
            </a:r>
            <a:endParaRPr lang="en-US" sz="750" dirty="0"/>
          </a:p>
        </p:txBody>
      </p:sp>
      <p:sp>
        <p:nvSpPr>
          <p:cNvPr id="94" name="Shape 89"/>
          <p:cNvSpPr/>
          <p:nvPr/>
        </p:nvSpPr>
        <p:spPr>
          <a:xfrm>
            <a:off x="2286000" y="2889504"/>
            <a:ext cx="1243584" cy="0"/>
          </a:xfrm>
          <a:prstGeom prst="line">
            <a:avLst/>
          </a:prstGeom>
          <a:noFill/>
          <a:ln w="22225">
            <a:solidFill>
              <a:srgbClr val="2563EB"/>
            </a:solidFill>
            <a:prstDash val="solid"/>
            <a:headEnd type="triangle"/>
            <a:tailEnd type="triangle"/>
          </a:ln>
        </p:spPr>
      </p:sp>
      <p:sp>
        <p:nvSpPr>
          <p:cNvPr id="95" name="Step 5"/>
          <p:cNvSpPr/>
          <p:nvPr/>
        </p:nvSpPr>
        <p:spPr>
          <a:xfrm>
            <a:off x="2560320" y="3072384"/>
            <a:ext cx="896112" cy="932688"/>
          </a:xfrm>
          <a:prstGeom prst="roundRect">
            <a:avLst>
              <a:gd name="adj" fmla="val 8163"/>
            </a:avLst>
          </a:prstGeom>
          <a:solidFill>
            <a:srgbClr val="FFFFFF"/>
          </a:solidFill>
          <a:ln w="12700">
            <a:solidFill>
              <a:srgbClr val="15803D"/>
            </a:solidFill>
            <a:prstDash val="solid"/>
          </a:ln>
        </p:spPr>
      </p:sp>
      <p:sp>
        <p:nvSpPr>
          <p:cNvPr id="96" name="Shape 91"/>
          <p:cNvSpPr/>
          <p:nvPr/>
        </p:nvSpPr>
        <p:spPr>
          <a:xfrm>
            <a:off x="2624328" y="3136392"/>
            <a:ext cx="201168" cy="201168"/>
          </a:xfrm>
          <a:prstGeom prst="ellipse">
            <a:avLst/>
          </a:prstGeom>
          <a:solidFill>
            <a:srgbClr val="15803D"/>
          </a:solidFill>
          <a:ln w="6350">
            <a:solidFill>
              <a:srgbClr val="15803D"/>
            </a:solidFill>
            <a:prstDash val="solid"/>
          </a:ln>
        </p:spPr>
      </p:sp>
      <p:sp>
        <p:nvSpPr>
          <p:cNvPr id="97" name="Text 92"/>
          <p:cNvSpPr txBox="1"/>
          <p:nvPr/>
        </p:nvSpPr>
        <p:spPr>
          <a:xfrm>
            <a:off x="2624328" y="3136392"/>
            <a:ext cx="201168" cy="20116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5</a:t>
            </a:r>
            <a:endParaRPr lang="en-US" sz="850" dirty="0"/>
          </a:p>
        </p:txBody>
      </p:sp>
      <p:sp>
        <p:nvSpPr>
          <p:cNvPr id="98" name="Text 93"/>
          <p:cNvSpPr txBox="1"/>
          <p:nvPr/>
        </p:nvSpPr>
        <p:spPr>
          <a:xfrm>
            <a:off x="2871216" y="3127248"/>
            <a:ext cx="530352" cy="841248"/>
          </a:xfrm>
          <a:prstGeom prst="rect">
            <a:avLst/>
          </a:prstGeom>
          <a:noFill/>
          <a:ln/>
        </p:spPr>
        <p:txBody>
          <a:bodyPr wrap="square" lIns="0" tIns="0" rIns="0" bIns="0" rtlCol="0" anchor="t"/>
          <a:lstStyle/>
          <a:p>
            <a:pPr indent="0" marL="0">
              <a:lnSpc>
                <a:spcPct val="95000"/>
              </a:lnSpc>
              <a:buNone/>
            </a:pPr>
            <a:r>
              <a:rPr lang="en-US" sz="750" b="1" dirty="0">
                <a:solidFill>
                  <a:srgbClr val="1F2937"/>
                </a:solidFill>
                <a:latin typeface="Calibri" pitchFamily="34" charset="0"/>
                <a:ea typeface="Calibri" pitchFamily="34" charset="-122"/>
                <a:cs typeface="Calibri" pitchFamily="34" charset="-120"/>
              </a:rPr>
              <a:t>Shopper taps Approve &amp; Pay</a:t>
            </a:r>
            <a:pPr indent="0" marL="0">
              <a:lnSpc>
                <a:spcPct val="95000"/>
              </a:lnSpc>
              <a:buNone/>
            </a:pPr>
            <a:r>
              <a:rPr lang="en-US" sz="750" dirty="0">
                <a:solidFill>
                  <a:srgbClr val="1F2937"/>
                </a:solidFill>
                <a:latin typeface="Calibri" pitchFamily="34" charset="0"/>
                <a:ea typeface="Calibri" pitchFamily="34" charset="-122"/>
                <a:cs typeface="Calibri" pitchFamily="34" charset="-120"/>
              </a:rPr>
              <a:t> for this exact total. Only a tap starts a payment.</a:t>
            </a:r>
            <a:endParaRPr lang="en-US" sz="750" dirty="0"/>
          </a:p>
        </p:txBody>
      </p:sp>
      <p:sp>
        <p:nvSpPr>
          <p:cNvPr id="99" name="Shape 94"/>
          <p:cNvSpPr/>
          <p:nvPr/>
        </p:nvSpPr>
        <p:spPr>
          <a:xfrm>
            <a:off x="2286000" y="4114800"/>
            <a:ext cx="1243584" cy="0"/>
          </a:xfrm>
          <a:prstGeom prst="line">
            <a:avLst/>
          </a:prstGeom>
          <a:noFill/>
          <a:ln w="22225">
            <a:solidFill>
              <a:srgbClr val="15803D"/>
            </a:solidFill>
            <a:prstDash val="solid"/>
            <a:headEnd type="triangle"/>
            <a:tailEnd type="triangle"/>
          </a:ln>
        </p:spPr>
      </p:sp>
      <p:sp>
        <p:nvSpPr>
          <p:cNvPr id="100" name="Step 2"/>
          <p:cNvSpPr/>
          <p:nvPr/>
        </p:nvSpPr>
        <p:spPr>
          <a:xfrm>
            <a:off x="6126480" y="1481328"/>
            <a:ext cx="914400" cy="566928"/>
          </a:xfrm>
          <a:prstGeom prst="roundRect">
            <a:avLst>
              <a:gd name="adj" fmla="val 12903"/>
            </a:avLst>
          </a:prstGeom>
          <a:solidFill>
            <a:srgbClr val="FFFFFF"/>
          </a:solidFill>
          <a:ln w="12700">
            <a:solidFill>
              <a:srgbClr val="5B3FD9"/>
            </a:solidFill>
            <a:prstDash val="solid"/>
          </a:ln>
        </p:spPr>
      </p:sp>
      <p:sp>
        <p:nvSpPr>
          <p:cNvPr id="101" name="Shape 96"/>
          <p:cNvSpPr/>
          <p:nvPr/>
        </p:nvSpPr>
        <p:spPr>
          <a:xfrm>
            <a:off x="6190488" y="1545336"/>
            <a:ext cx="201168" cy="201168"/>
          </a:xfrm>
          <a:prstGeom prst="ellipse">
            <a:avLst/>
          </a:prstGeom>
          <a:solidFill>
            <a:srgbClr val="5B3FD9"/>
          </a:solidFill>
          <a:ln w="6350">
            <a:solidFill>
              <a:srgbClr val="5B3FD9"/>
            </a:solidFill>
            <a:prstDash val="solid"/>
          </a:ln>
        </p:spPr>
      </p:sp>
      <p:sp>
        <p:nvSpPr>
          <p:cNvPr id="102" name="Text 97"/>
          <p:cNvSpPr txBox="1"/>
          <p:nvPr/>
        </p:nvSpPr>
        <p:spPr>
          <a:xfrm>
            <a:off x="6190488" y="1545336"/>
            <a:ext cx="201168" cy="20116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2</a:t>
            </a:r>
            <a:endParaRPr lang="en-US" sz="850" dirty="0"/>
          </a:p>
        </p:txBody>
      </p:sp>
      <p:sp>
        <p:nvSpPr>
          <p:cNvPr id="103" name="Text 98"/>
          <p:cNvSpPr txBox="1"/>
          <p:nvPr/>
        </p:nvSpPr>
        <p:spPr>
          <a:xfrm>
            <a:off x="6437376" y="1536192"/>
            <a:ext cx="548640" cy="475488"/>
          </a:xfrm>
          <a:prstGeom prst="rect">
            <a:avLst/>
          </a:prstGeom>
          <a:noFill/>
          <a:ln/>
        </p:spPr>
        <p:txBody>
          <a:bodyPr wrap="square" lIns="0" tIns="0" rIns="0" bIns="0" rtlCol="0" anchor="t"/>
          <a:lstStyle/>
          <a:p>
            <a:pPr indent="0" marL="0">
              <a:lnSpc>
                <a:spcPct val="95000"/>
              </a:lnSpc>
              <a:buNone/>
            </a:pPr>
            <a:r>
              <a:rPr lang="en-US" sz="750" b="1" dirty="0">
                <a:solidFill>
                  <a:srgbClr val="1F2937"/>
                </a:solidFill>
                <a:latin typeface="Calibri" pitchFamily="34" charset="0"/>
                <a:ea typeface="Calibri" pitchFamily="34" charset="-122"/>
                <a:cs typeface="Calibri" pitchFamily="34" charset="-120"/>
              </a:rPr>
              <a:t>SneakPeek</a:t>
            </a:r>
            <a:pPr indent="0" marL="0">
              <a:lnSpc>
                <a:spcPct val="95000"/>
              </a:lnSpc>
              <a:buNone/>
            </a:pPr>
            <a:r>
              <a:rPr lang="en-US" sz="750" dirty="0">
                <a:solidFill>
                  <a:srgbClr val="1F2937"/>
                </a:solidFill>
                <a:latin typeface="Calibri" pitchFamily="34" charset="0"/>
                <a:ea typeface="Calibri" pitchFamily="34" charset="-122"/>
                <a:cs typeface="Calibri" pitchFamily="34" charset="-120"/>
              </a:rPr>
              <a:t> finds the top 3 in the catalog.</a:t>
            </a:r>
            <a:endParaRPr lang="en-US" sz="750" dirty="0"/>
          </a:p>
        </p:txBody>
      </p:sp>
      <p:sp>
        <p:nvSpPr>
          <p:cNvPr id="104" name="Shape 99"/>
          <p:cNvSpPr/>
          <p:nvPr/>
        </p:nvSpPr>
        <p:spPr>
          <a:xfrm>
            <a:off x="6071616" y="2130552"/>
            <a:ext cx="1225296" cy="0"/>
          </a:xfrm>
          <a:prstGeom prst="line">
            <a:avLst/>
          </a:prstGeom>
          <a:noFill/>
          <a:ln w="22225">
            <a:solidFill>
              <a:srgbClr val="5B3FD9"/>
            </a:solidFill>
            <a:prstDash val="solid"/>
            <a:headEnd type="triangle"/>
            <a:tailEnd type="triangle"/>
          </a:ln>
        </p:spPr>
      </p:sp>
      <p:sp>
        <p:nvSpPr>
          <p:cNvPr id="105" name="Step 4"/>
          <p:cNvSpPr/>
          <p:nvPr/>
        </p:nvSpPr>
        <p:spPr>
          <a:xfrm>
            <a:off x="6126480" y="2221992"/>
            <a:ext cx="914400" cy="713232"/>
          </a:xfrm>
          <a:prstGeom prst="roundRect">
            <a:avLst>
              <a:gd name="adj" fmla="val 10256"/>
            </a:avLst>
          </a:prstGeom>
          <a:solidFill>
            <a:srgbClr val="FFFFFF"/>
          </a:solidFill>
          <a:ln w="12700">
            <a:solidFill>
              <a:srgbClr val="5B3FD9"/>
            </a:solidFill>
            <a:prstDash val="solid"/>
          </a:ln>
        </p:spPr>
      </p:sp>
      <p:sp>
        <p:nvSpPr>
          <p:cNvPr id="106" name="Shape 101"/>
          <p:cNvSpPr/>
          <p:nvPr/>
        </p:nvSpPr>
        <p:spPr>
          <a:xfrm>
            <a:off x="6190488" y="2286000"/>
            <a:ext cx="201168" cy="201168"/>
          </a:xfrm>
          <a:prstGeom prst="ellipse">
            <a:avLst/>
          </a:prstGeom>
          <a:solidFill>
            <a:srgbClr val="5B3FD9"/>
          </a:solidFill>
          <a:ln w="6350">
            <a:solidFill>
              <a:srgbClr val="5B3FD9"/>
            </a:solidFill>
            <a:prstDash val="solid"/>
          </a:ln>
        </p:spPr>
      </p:sp>
      <p:sp>
        <p:nvSpPr>
          <p:cNvPr id="107" name="Text 102"/>
          <p:cNvSpPr txBox="1"/>
          <p:nvPr/>
        </p:nvSpPr>
        <p:spPr>
          <a:xfrm>
            <a:off x="6190488" y="2286000"/>
            <a:ext cx="201168" cy="20116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4</a:t>
            </a:r>
            <a:endParaRPr lang="en-US" sz="850" dirty="0"/>
          </a:p>
        </p:txBody>
      </p:sp>
      <p:sp>
        <p:nvSpPr>
          <p:cNvPr id="108" name="Text 103"/>
          <p:cNvSpPr txBox="1"/>
          <p:nvPr/>
        </p:nvSpPr>
        <p:spPr>
          <a:xfrm>
            <a:off x="6437376" y="2276856"/>
            <a:ext cx="548640" cy="621792"/>
          </a:xfrm>
          <a:prstGeom prst="rect">
            <a:avLst/>
          </a:prstGeom>
          <a:noFill/>
          <a:ln/>
        </p:spPr>
        <p:txBody>
          <a:bodyPr wrap="square" lIns="0" tIns="0" rIns="0" bIns="0" rtlCol="0" anchor="t"/>
          <a:lstStyle/>
          <a:p>
            <a:pPr indent="0" marL="0">
              <a:lnSpc>
                <a:spcPct val="95000"/>
              </a:lnSpc>
              <a:buNone/>
            </a:pPr>
            <a:r>
              <a:rPr lang="en-US" sz="750" b="1" dirty="0">
                <a:solidFill>
                  <a:srgbClr val="1F2937"/>
                </a:solidFill>
                <a:latin typeface="Calibri" pitchFamily="34" charset="0"/>
                <a:ea typeface="Calibri" pitchFamily="34" charset="-122"/>
                <a:cs typeface="Calibri" pitchFamily="34" charset="-120"/>
              </a:rPr>
              <a:t>CartUp</a:t>
            </a:r>
            <a:pPr indent="0" marL="0">
              <a:lnSpc>
                <a:spcPct val="95000"/>
              </a:lnSpc>
              <a:buNone/>
            </a:pPr>
            <a:r>
              <a:rPr lang="en-US" sz="750" dirty="0">
                <a:solidFill>
                  <a:srgbClr val="1F2937"/>
                </a:solidFill>
                <a:latin typeface="Calibri" pitchFamily="34" charset="0"/>
                <a:ea typeface="Calibri" pitchFamily="34" charset="-122"/>
                <a:cs typeface="Calibri" pitchFamily="34" charset="-120"/>
              </a:rPr>
              <a:t> checks sign-in, builds the checkout.</a:t>
            </a:r>
            <a:endParaRPr lang="en-US" sz="750" dirty="0"/>
          </a:p>
        </p:txBody>
      </p:sp>
      <p:sp>
        <p:nvSpPr>
          <p:cNvPr id="109" name="Shape 104"/>
          <p:cNvSpPr/>
          <p:nvPr/>
        </p:nvSpPr>
        <p:spPr>
          <a:xfrm>
            <a:off x="6071616" y="3017520"/>
            <a:ext cx="1225296" cy="0"/>
          </a:xfrm>
          <a:prstGeom prst="line">
            <a:avLst/>
          </a:prstGeom>
          <a:noFill/>
          <a:ln w="22225">
            <a:solidFill>
              <a:srgbClr val="5B3FD9"/>
            </a:solidFill>
            <a:prstDash val="solid"/>
            <a:headEnd type="triangle"/>
            <a:tailEnd type="triangle"/>
          </a:ln>
        </p:spPr>
      </p:sp>
      <p:sp>
        <p:nvSpPr>
          <p:cNvPr id="110" name="Step 6"/>
          <p:cNvSpPr/>
          <p:nvPr/>
        </p:nvSpPr>
        <p:spPr>
          <a:xfrm>
            <a:off x="6126480" y="3108960"/>
            <a:ext cx="914400" cy="731520"/>
          </a:xfrm>
          <a:prstGeom prst="roundRect">
            <a:avLst>
              <a:gd name="adj" fmla="val 10000"/>
            </a:avLst>
          </a:prstGeom>
          <a:solidFill>
            <a:srgbClr val="FFFFFF"/>
          </a:solidFill>
          <a:ln w="12700">
            <a:solidFill>
              <a:srgbClr val="15803D"/>
            </a:solidFill>
            <a:prstDash val="solid"/>
          </a:ln>
        </p:spPr>
      </p:sp>
      <p:sp>
        <p:nvSpPr>
          <p:cNvPr id="111" name="Shape 106"/>
          <p:cNvSpPr/>
          <p:nvPr/>
        </p:nvSpPr>
        <p:spPr>
          <a:xfrm>
            <a:off x="6190488" y="3172968"/>
            <a:ext cx="201168" cy="201168"/>
          </a:xfrm>
          <a:prstGeom prst="ellipse">
            <a:avLst/>
          </a:prstGeom>
          <a:solidFill>
            <a:srgbClr val="15803D"/>
          </a:solidFill>
          <a:ln w="6350">
            <a:solidFill>
              <a:srgbClr val="15803D"/>
            </a:solidFill>
            <a:prstDash val="solid"/>
          </a:ln>
        </p:spPr>
      </p:sp>
      <p:sp>
        <p:nvSpPr>
          <p:cNvPr id="112" name="Text 107"/>
          <p:cNvSpPr txBox="1"/>
          <p:nvPr/>
        </p:nvSpPr>
        <p:spPr>
          <a:xfrm>
            <a:off x="6190488" y="3172968"/>
            <a:ext cx="201168" cy="20116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6</a:t>
            </a:r>
            <a:endParaRPr lang="en-US" sz="850" dirty="0"/>
          </a:p>
        </p:txBody>
      </p:sp>
      <p:sp>
        <p:nvSpPr>
          <p:cNvPr id="113" name="Text 108"/>
          <p:cNvSpPr txBox="1"/>
          <p:nvPr/>
        </p:nvSpPr>
        <p:spPr>
          <a:xfrm>
            <a:off x="6437376" y="3163824"/>
            <a:ext cx="548640" cy="640080"/>
          </a:xfrm>
          <a:prstGeom prst="rect">
            <a:avLst/>
          </a:prstGeom>
          <a:noFill/>
          <a:ln/>
        </p:spPr>
        <p:txBody>
          <a:bodyPr wrap="square" lIns="0" tIns="0" rIns="0" bIns="0" rtlCol="0" anchor="t"/>
          <a:lstStyle/>
          <a:p>
            <a:pPr indent="0" marL="0">
              <a:lnSpc>
                <a:spcPct val="95000"/>
              </a:lnSpc>
              <a:buNone/>
            </a:pPr>
            <a:r>
              <a:rPr lang="en-US" sz="750" b="1" dirty="0">
                <a:solidFill>
                  <a:srgbClr val="1F2937"/>
                </a:solidFill>
                <a:latin typeface="Calibri" pitchFamily="34" charset="0"/>
                <a:ea typeface="Calibri" pitchFamily="34" charset="-122"/>
                <a:cs typeface="Calibri" pitchFamily="34" charset="-120"/>
              </a:rPr>
              <a:t>GreenLight</a:t>
            </a:r>
            <a:pPr indent="0" marL="0">
              <a:lnSpc>
                <a:spcPct val="95000"/>
              </a:lnSpc>
              <a:buNone/>
            </a:pPr>
            <a:r>
              <a:rPr lang="en-US" sz="750" dirty="0">
                <a:solidFill>
                  <a:srgbClr val="1F2937"/>
                </a:solidFill>
                <a:latin typeface="Calibri" pitchFamily="34" charset="0"/>
                <a:ea typeface="Calibri" pitchFamily="34" charset="-122"/>
                <a:cs typeface="Calibri" pitchFamily="34" charset="-120"/>
              </a:rPr>
              <a:t> records consent, signs a token.</a:t>
            </a:r>
            <a:endParaRPr lang="en-US" sz="750" dirty="0"/>
          </a:p>
        </p:txBody>
      </p:sp>
      <p:sp>
        <p:nvSpPr>
          <p:cNvPr id="114" name="Shape 109"/>
          <p:cNvSpPr/>
          <p:nvPr/>
        </p:nvSpPr>
        <p:spPr>
          <a:xfrm>
            <a:off x="6071616" y="3922776"/>
            <a:ext cx="1225296" cy="0"/>
          </a:xfrm>
          <a:prstGeom prst="line">
            <a:avLst/>
          </a:prstGeom>
          <a:noFill/>
          <a:ln w="22225">
            <a:solidFill>
              <a:srgbClr val="15803D"/>
            </a:solidFill>
            <a:prstDash val="solid"/>
            <a:headEnd type="triangle"/>
            <a:tailEnd type="triangle"/>
          </a:ln>
        </p:spPr>
      </p:sp>
      <p:sp>
        <p:nvSpPr>
          <p:cNvPr id="115" name="Step 7"/>
          <p:cNvSpPr/>
          <p:nvPr/>
        </p:nvSpPr>
        <p:spPr>
          <a:xfrm>
            <a:off x="6126480" y="4005072"/>
            <a:ext cx="914400" cy="548640"/>
          </a:xfrm>
          <a:prstGeom prst="roundRect">
            <a:avLst>
              <a:gd name="adj" fmla="val 13333"/>
            </a:avLst>
          </a:prstGeom>
          <a:solidFill>
            <a:srgbClr val="FFFFFF"/>
          </a:solidFill>
          <a:ln w="12700">
            <a:solidFill>
              <a:srgbClr val="15803D"/>
            </a:solidFill>
            <a:prstDash val="solid"/>
          </a:ln>
        </p:spPr>
      </p:sp>
      <p:sp>
        <p:nvSpPr>
          <p:cNvPr id="116" name="Shape 111"/>
          <p:cNvSpPr/>
          <p:nvPr/>
        </p:nvSpPr>
        <p:spPr>
          <a:xfrm>
            <a:off x="6190488" y="4069080"/>
            <a:ext cx="201168" cy="201168"/>
          </a:xfrm>
          <a:prstGeom prst="ellipse">
            <a:avLst/>
          </a:prstGeom>
          <a:solidFill>
            <a:srgbClr val="15803D"/>
          </a:solidFill>
          <a:ln w="6350">
            <a:solidFill>
              <a:srgbClr val="15803D"/>
            </a:solidFill>
            <a:prstDash val="solid"/>
          </a:ln>
        </p:spPr>
      </p:sp>
      <p:sp>
        <p:nvSpPr>
          <p:cNvPr id="117" name="Text 112"/>
          <p:cNvSpPr txBox="1"/>
          <p:nvPr/>
        </p:nvSpPr>
        <p:spPr>
          <a:xfrm>
            <a:off x="6190488" y="4069080"/>
            <a:ext cx="201168" cy="20116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7</a:t>
            </a:r>
            <a:endParaRPr lang="en-US" sz="850" dirty="0"/>
          </a:p>
        </p:txBody>
      </p:sp>
      <p:sp>
        <p:nvSpPr>
          <p:cNvPr id="118" name="Text 113"/>
          <p:cNvSpPr txBox="1"/>
          <p:nvPr/>
        </p:nvSpPr>
        <p:spPr>
          <a:xfrm>
            <a:off x="6437376" y="4059936"/>
            <a:ext cx="548640" cy="457200"/>
          </a:xfrm>
          <a:prstGeom prst="rect">
            <a:avLst/>
          </a:prstGeom>
          <a:noFill/>
          <a:ln/>
        </p:spPr>
        <p:txBody>
          <a:bodyPr wrap="square" lIns="0" tIns="0" rIns="0" bIns="0" rtlCol="0" anchor="t"/>
          <a:lstStyle/>
          <a:p>
            <a:pPr indent="0" marL="0">
              <a:lnSpc>
                <a:spcPct val="95000"/>
              </a:lnSpc>
              <a:buNone/>
            </a:pPr>
            <a:r>
              <a:rPr lang="en-US" sz="750" b="1" dirty="0">
                <a:solidFill>
                  <a:srgbClr val="1F2937"/>
                </a:solidFill>
                <a:latin typeface="Calibri" pitchFamily="34" charset="0"/>
                <a:ea typeface="Calibri" pitchFamily="34" charset="-122"/>
                <a:cs typeface="Calibri" pitchFamily="34" charset="-120"/>
              </a:rPr>
              <a:t>PayIt</a:t>
            </a:r>
            <a:pPr indent="0" marL="0">
              <a:lnSpc>
                <a:spcPct val="95000"/>
              </a:lnSpc>
              <a:buNone/>
            </a:pPr>
            <a:r>
              <a:rPr lang="en-US" sz="750" dirty="0">
                <a:solidFill>
                  <a:srgbClr val="1F2937"/>
                </a:solidFill>
                <a:latin typeface="Calibri" pitchFamily="34" charset="0"/>
                <a:ea typeface="Calibri" pitchFamily="34" charset="-122"/>
                <a:cs typeface="Calibri" pitchFamily="34" charset="-120"/>
              </a:rPr>
              <a:t> verifies the token: 12 checks.</a:t>
            </a:r>
            <a:endParaRPr lang="en-US" sz="750" dirty="0"/>
          </a:p>
        </p:txBody>
      </p:sp>
      <p:sp>
        <p:nvSpPr>
          <p:cNvPr id="119" name="Shape 114"/>
          <p:cNvSpPr/>
          <p:nvPr/>
        </p:nvSpPr>
        <p:spPr>
          <a:xfrm>
            <a:off x="6071616" y="4572000"/>
            <a:ext cx="1225296" cy="0"/>
          </a:xfrm>
          <a:prstGeom prst="line">
            <a:avLst/>
          </a:prstGeom>
          <a:noFill/>
          <a:ln w="22225">
            <a:solidFill>
              <a:srgbClr val="15803D"/>
            </a:solidFill>
            <a:prstDash val="solid"/>
            <a:headEnd type="triangle"/>
            <a:tailEnd type="triangle"/>
          </a:ln>
        </p:spPr>
      </p:sp>
      <p:sp>
        <p:nvSpPr>
          <p:cNvPr id="120" name="Step 9"/>
          <p:cNvSpPr/>
          <p:nvPr/>
        </p:nvSpPr>
        <p:spPr>
          <a:xfrm>
            <a:off x="2615184" y="4709160"/>
            <a:ext cx="4370832" cy="310896"/>
          </a:xfrm>
          <a:prstGeom prst="roundRect">
            <a:avLst>
              <a:gd name="adj" fmla="val 23529"/>
            </a:avLst>
          </a:prstGeom>
          <a:solidFill>
            <a:srgbClr val="FFFFFF"/>
          </a:solidFill>
          <a:ln w="12700">
            <a:solidFill>
              <a:srgbClr val="2563EB"/>
            </a:solidFill>
            <a:prstDash val="solid"/>
          </a:ln>
        </p:spPr>
      </p:sp>
      <p:sp>
        <p:nvSpPr>
          <p:cNvPr id="121" name="Shape 116"/>
          <p:cNvSpPr/>
          <p:nvPr/>
        </p:nvSpPr>
        <p:spPr>
          <a:xfrm>
            <a:off x="2670048" y="4764024"/>
            <a:ext cx="201168" cy="201168"/>
          </a:xfrm>
          <a:prstGeom prst="ellipse">
            <a:avLst/>
          </a:prstGeom>
          <a:solidFill>
            <a:srgbClr val="2563EB"/>
          </a:solidFill>
          <a:ln w="6350">
            <a:solidFill>
              <a:srgbClr val="2563EB"/>
            </a:solidFill>
            <a:prstDash val="solid"/>
          </a:ln>
        </p:spPr>
      </p:sp>
      <p:sp>
        <p:nvSpPr>
          <p:cNvPr id="122" name="Text 117"/>
          <p:cNvSpPr txBox="1"/>
          <p:nvPr/>
        </p:nvSpPr>
        <p:spPr>
          <a:xfrm>
            <a:off x="2670048" y="4764024"/>
            <a:ext cx="201168" cy="20116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9</a:t>
            </a:r>
            <a:endParaRPr lang="en-US" sz="850" dirty="0"/>
          </a:p>
        </p:txBody>
      </p:sp>
      <p:sp>
        <p:nvSpPr>
          <p:cNvPr id="123" name="Text 118"/>
          <p:cNvSpPr txBox="1"/>
          <p:nvPr/>
        </p:nvSpPr>
        <p:spPr>
          <a:xfrm>
            <a:off x="2926080" y="4709160"/>
            <a:ext cx="4023360" cy="310896"/>
          </a:xfrm>
          <a:prstGeom prst="rect">
            <a:avLst/>
          </a:prstGeom>
          <a:noFill/>
          <a:ln/>
        </p:spPr>
        <p:txBody>
          <a:bodyPr wrap="square" lIns="0" tIns="0" rIns="0" bIns="0" rtlCol="0" anchor="ctr"/>
          <a:lstStyle/>
          <a:p>
            <a:pPr indent="0" marL="0">
              <a:buNone/>
            </a:pPr>
            <a:r>
              <a:rPr lang="en-US" sz="800" b="1" dirty="0">
                <a:solidFill>
                  <a:srgbClr val="1F2937"/>
                </a:solidFill>
                <a:latin typeface="Calibri" pitchFamily="34" charset="0"/>
                <a:ea typeface="Calibri" pitchFamily="34" charset="-122"/>
                <a:cs typeface="Calibri" pitchFamily="34" charset="-120"/>
              </a:rPr>
              <a:t>TrackIt</a:t>
            </a:r>
            <a:pPr indent="0" marL="0">
              <a:buNone/>
            </a:pPr>
            <a:r>
              <a:rPr lang="en-US" sz="800" dirty="0">
                <a:solidFill>
                  <a:srgbClr val="1F2937"/>
                </a:solidFill>
                <a:latin typeface="Calibri" pitchFamily="34" charset="0"/>
                <a:ea typeface="Calibri" pitchFamily="34" charset="-122"/>
                <a:cs typeface="Calibri" pitchFamily="34" charset="-120"/>
              </a:rPr>
              <a:t> creates the order once → confirmation and email back to the shopper in Talkshop</a:t>
            </a:r>
            <a:endParaRPr lang="en-US" sz="800" dirty="0"/>
          </a:p>
        </p:txBody>
      </p:sp>
      <p:sp>
        <p:nvSpPr>
          <p:cNvPr id="124" name="Shape 119"/>
          <p:cNvSpPr/>
          <p:nvPr/>
        </p:nvSpPr>
        <p:spPr>
          <a:xfrm>
            <a:off x="2286000" y="4846320"/>
            <a:ext cx="329184" cy="0"/>
          </a:xfrm>
          <a:prstGeom prst="line">
            <a:avLst/>
          </a:prstGeom>
          <a:noFill/>
          <a:ln w="22225">
            <a:solidFill>
              <a:srgbClr val="2563EB"/>
            </a:solidFill>
            <a:prstDash val="solid"/>
            <a:tailEnd type="triangle"/>
          </a:ln>
        </p:spPr>
      </p:sp>
      <p:sp>
        <p:nvSpPr>
          <p:cNvPr id="125" name="Shape 120"/>
          <p:cNvSpPr/>
          <p:nvPr/>
        </p:nvSpPr>
        <p:spPr>
          <a:xfrm>
            <a:off x="7296912" y="1325880"/>
            <a:ext cx="2176272" cy="566928"/>
          </a:xfrm>
          <a:prstGeom prst="roundRect">
            <a:avLst>
              <a:gd name="adj" fmla="val 12903"/>
            </a:avLst>
          </a:prstGeom>
          <a:solidFill>
            <a:srgbClr val="FFFFFF"/>
          </a:solidFill>
          <a:ln w="9525">
            <a:solidFill>
              <a:srgbClr val="F5D0AE"/>
            </a:solidFill>
            <a:prstDash val="solid"/>
          </a:ln>
        </p:spPr>
      </p:sp>
      <p:sp>
        <p:nvSpPr>
          <p:cNvPr id="126" name="Text 121"/>
          <p:cNvSpPr txBox="1"/>
          <p:nvPr/>
        </p:nvSpPr>
        <p:spPr>
          <a:xfrm>
            <a:off x="7360920" y="1371600"/>
            <a:ext cx="2048256" cy="493776"/>
          </a:xfrm>
          <a:prstGeom prst="rect">
            <a:avLst/>
          </a:prstGeom>
          <a:noFill/>
          <a:ln/>
        </p:spPr>
        <p:txBody>
          <a:bodyPr wrap="square" lIns="0" tIns="0" rIns="0" bIns="0" rtlCol="0" anchor="t"/>
          <a:lstStyle/>
          <a:p>
            <a:pPr indent="0" marL="0">
              <a:buNone/>
            </a:pPr>
            <a:r>
              <a:rPr lang="en-US" sz="800" dirty="0">
                <a:solidFill>
                  <a:srgbClr val="1F2937"/>
                </a:solidFill>
                <a:latin typeface="Calibri" pitchFamily="34" charset="0"/>
                <a:ea typeface="Calibri" pitchFamily="34" charset="-122"/>
                <a:cs typeface="Calibri" pitchFamily="34" charset="-120"/>
              </a:rPr>
              <a:t>“</a:t>
            </a:r>
            <a:pPr indent="0" marL="0">
              <a:buNone/>
            </a:pPr>
            <a:r>
              <a:rPr lang="en-US" sz="800" b="1" dirty="0">
                <a:solidFill>
                  <a:srgbClr val="1F2937"/>
                </a:solidFill>
                <a:latin typeface="Calibri" pitchFamily="34" charset="0"/>
                <a:ea typeface="Calibri" pitchFamily="34" charset="-122"/>
                <a:cs typeface="Calibri" pitchFamily="34" charset="-120"/>
              </a:rPr>
              <a:t>FlexRun 5 · size 9 · orange</a:t>
            </a:r>
            <a:pPr indent="0" marL="0">
              <a:buNone/>
            </a:pPr>
            <a:r>
              <a:rPr lang="en-US" sz="800" dirty="0">
                <a:solidFill>
                  <a:srgbClr val="1F2937"/>
                </a:solidFill>
                <a:latin typeface="Calibri" pitchFamily="34" charset="0"/>
                <a:ea typeface="Calibri" pitchFamily="34" charset="-122"/>
                <a:cs typeface="Calibri" pitchFamily="34" charset="-120"/>
              </a:rPr>
              <a:t> is in stock. Checkout ready: </a:t>
            </a:r>
            <a:pPr indent="0" marL="0">
              <a:buNone/>
            </a:pPr>
            <a:r>
              <a:rPr lang="en-US" sz="800" b="1" dirty="0">
                <a:solidFill>
                  <a:srgbClr val="1F2937"/>
                </a:solidFill>
                <a:latin typeface="Calibri" pitchFamily="34" charset="0"/>
                <a:ea typeface="Calibri" pitchFamily="34" charset="-122"/>
                <a:cs typeface="Calibri" pitchFamily="34" charset="-120"/>
              </a:rPr>
              <a:t>$150.47</a:t>
            </a:r>
            <a:pPr indent="0" marL="0">
              <a:buNone/>
            </a:pPr>
            <a:r>
              <a:rPr lang="en-US" sz="800" dirty="0">
                <a:solidFill>
                  <a:srgbClr val="1F2937"/>
                </a:solidFill>
                <a:latin typeface="Calibri" pitchFamily="34" charset="0"/>
                <a:ea typeface="Calibri" pitchFamily="34" charset="-122"/>
                <a:cs typeface="Calibri" pitchFamily="34" charset="-120"/>
              </a:rPr>
              <a:t> incl. tax &amp; shipping.”</a:t>
            </a:r>
            <a:endParaRPr lang="en-US" sz="800" dirty="0"/>
          </a:p>
        </p:txBody>
      </p:sp>
      <p:sp>
        <p:nvSpPr>
          <p:cNvPr id="127" name="ShopSphere services"/>
          <p:cNvSpPr/>
          <p:nvPr/>
        </p:nvSpPr>
        <p:spPr>
          <a:xfrm>
            <a:off x="7296912" y="1984248"/>
            <a:ext cx="2176272" cy="3081528"/>
          </a:xfrm>
          <a:prstGeom prst="roundRect">
            <a:avLst>
              <a:gd name="adj" fmla="val 3361"/>
            </a:avLst>
          </a:prstGeom>
          <a:solidFill>
            <a:srgbClr val="FFFFFF"/>
          </a:solidFill>
          <a:ln w="12700">
            <a:solidFill>
              <a:srgbClr val="D9620F"/>
            </a:solidFill>
            <a:prstDash val="solid"/>
          </a:ln>
        </p:spPr>
      </p:sp>
      <p:pic>
        <p:nvPicPr>
          <p:cNvPr id="128" name="Image 3" descr="preencoded.png">    </p:cNvPr>
          <p:cNvPicPr>
            <a:picLocks noChangeAspect="1"/>
          </p:cNvPicPr>
          <p:nvPr/>
        </p:nvPicPr>
        <p:blipFill>
          <a:blip r:embed="rId4"/>
          <a:stretch>
            <a:fillRect/>
          </a:stretch>
        </p:blipFill>
        <p:spPr>
          <a:xfrm>
            <a:off x="7388352" y="2039112"/>
            <a:ext cx="201168" cy="201168"/>
          </a:xfrm>
          <a:prstGeom prst="rect">
            <a:avLst/>
          </a:prstGeom>
        </p:spPr>
      </p:pic>
      <p:sp>
        <p:nvSpPr>
          <p:cNvPr id="129" name="Text 123"/>
          <p:cNvSpPr txBox="1"/>
          <p:nvPr/>
        </p:nvSpPr>
        <p:spPr>
          <a:xfrm>
            <a:off x="7644384" y="2029968"/>
            <a:ext cx="1737360" cy="219456"/>
          </a:xfrm>
          <a:prstGeom prst="rect">
            <a:avLst/>
          </a:prstGeom>
          <a:noFill/>
          <a:ln/>
        </p:spPr>
        <p:txBody>
          <a:bodyPr wrap="square" lIns="0" tIns="0" rIns="0" bIns="0" rtlCol="0" anchor="ctr"/>
          <a:lstStyle/>
          <a:p>
            <a:pPr indent="0" marL="0">
              <a:buNone/>
            </a:pPr>
            <a:r>
              <a:rPr lang="en-US" sz="1000" b="1" dirty="0">
                <a:solidFill>
                  <a:srgbClr val="D9620F"/>
                </a:solidFill>
                <a:latin typeface="Calibri" pitchFamily="34" charset="0"/>
                <a:ea typeface="Calibri" pitchFamily="34" charset="-122"/>
                <a:cs typeface="Calibri" pitchFamily="34" charset="-120"/>
              </a:rPr>
              <a:t>ShopSphere services</a:t>
            </a:r>
            <a:endParaRPr lang="en-US" sz="1000" dirty="0"/>
          </a:p>
        </p:txBody>
      </p:sp>
      <p:sp>
        <p:nvSpPr>
          <p:cNvPr id="130" name="Shape 124"/>
          <p:cNvSpPr/>
          <p:nvPr/>
        </p:nvSpPr>
        <p:spPr>
          <a:xfrm>
            <a:off x="7360920" y="2304288"/>
            <a:ext cx="2048256" cy="347472"/>
          </a:xfrm>
          <a:prstGeom prst="roundRect">
            <a:avLst>
              <a:gd name="adj" fmla="val 13158"/>
            </a:avLst>
          </a:prstGeom>
          <a:solidFill>
            <a:srgbClr val="FFF9F3"/>
          </a:solidFill>
          <a:ln w="9525">
            <a:solidFill>
              <a:srgbClr val="F3E1CF"/>
            </a:solidFill>
            <a:prstDash val="solid"/>
          </a:ln>
        </p:spPr>
      </p:sp>
      <p:pic>
        <p:nvPicPr>
          <p:cNvPr id="131" name="Image 4" descr="preencoded.png">    </p:cNvPr>
          <p:cNvPicPr>
            <a:picLocks noChangeAspect="1"/>
          </p:cNvPicPr>
          <p:nvPr/>
        </p:nvPicPr>
        <p:blipFill>
          <a:blip r:embed="rId5"/>
          <a:stretch>
            <a:fillRect/>
          </a:stretch>
        </p:blipFill>
        <p:spPr>
          <a:xfrm>
            <a:off x="7415784" y="2377440"/>
            <a:ext cx="182880" cy="182880"/>
          </a:xfrm>
          <a:prstGeom prst="rect">
            <a:avLst/>
          </a:prstGeom>
        </p:spPr>
      </p:pic>
      <p:sp>
        <p:nvSpPr>
          <p:cNvPr id="132" name="Text 125"/>
          <p:cNvSpPr txBox="1"/>
          <p:nvPr/>
        </p:nvSpPr>
        <p:spPr>
          <a:xfrm>
            <a:off x="7662672" y="2331720"/>
            <a:ext cx="1097280" cy="155448"/>
          </a:xfrm>
          <a:prstGeom prst="rect">
            <a:avLst/>
          </a:prstGeom>
          <a:noFill/>
          <a:ln/>
        </p:spPr>
        <p:txBody>
          <a:bodyPr wrap="square" lIns="0" tIns="0" rIns="0" bIns="0" rtlCol="0" anchor="t"/>
          <a:lstStyle/>
          <a:p>
            <a:pPr indent="0" marL="0">
              <a:buNone/>
            </a:pPr>
            <a:r>
              <a:rPr lang="en-US" sz="800" b="1" dirty="0">
                <a:solidFill>
                  <a:srgbClr val="1F2937"/>
                </a:solidFill>
                <a:latin typeface="Calibri" pitchFamily="34" charset="0"/>
                <a:ea typeface="Calibri" pitchFamily="34" charset="-122"/>
                <a:cs typeface="Calibri" pitchFamily="34" charset="-120"/>
              </a:rPr>
              <a:t>Catalog + search</a:t>
            </a:r>
            <a:endParaRPr lang="en-US" sz="800" dirty="0"/>
          </a:p>
        </p:txBody>
      </p:sp>
      <p:sp>
        <p:nvSpPr>
          <p:cNvPr id="133" name="Text 126"/>
          <p:cNvSpPr txBox="1"/>
          <p:nvPr/>
        </p:nvSpPr>
        <p:spPr>
          <a:xfrm>
            <a:off x="7662672" y="2487168"/>
            <a:ext cx="1691640" cy="137160"/>
          </a:xfrm>
          <a:prstGeom prst="rect">
            <a:avLst/>
          </a:prstGeom>
          <a:noFill/>
          <a:ln/>
        </p:spPr>
        <p:txBody>
          <a:bodyPr wrap="square" lIns="0" tIns="0" rIns="0" bIns="0" rtlCol="0" anchor="t"/>
          <a:lstStyle/>
          <a:p>
            <a:pPr indent="0" marL="0">
              <a:buNone/>
            </a:pPr>
            <a:r>
              <a:rPr lang="en-US" sz="680" dirty="0">
                <a:solidFill>
                  <a:srgbClr val="5B6475"/>
                </a:solidFill>
                <a:latin typeface="Calibri" pitchFamily="34" charset="0"/>
                <a:ea typeface="Calibri" pitchFamily="34" charset="-122"/>
                <a:cs typeface="Calibri" pitchFamily="34" charset="-120"/>
              </a:rPr>
              <a:t>products, prices, ratings</a:t>
            </a:r>
            <a:endParaRPr lang="en-US" sz="680" dirty="0"/>
          </a:p>
        </p:txBody>
      </p:sp>
      <p:sp>
        <p:nvSpPr>
          <p:cNvPr id="134" name="Shape 127"/>
          <p:cNvSpPr/>
          <p:nvPr/>
        </p:nvSpPr>
        <p:spPr>
          <a:xfrm>
            <a:off x="8778240" y="2340864"/>
            <a:ext cx="585216" cy="137160"/>
          </a:xfrm>
          <a:prstGeom prst="roundRect">
            <a:avLst>
              <a:gd name="adj" fmla="val 26667"/>
            </a:avLst>
          </a:prstGeom>
          <a:solidFill>
            <a:srgbClr val="F2EFFE"/>
          </a:solidFill>
          <a:ln w="6350">
            <a:solidFill>
              <a:srgbClr val="5B3FD9"/>
            </a:solidFill>
            <a:prstDash val="solid"/>
          </a:ln>
        </p:spPr>
      </p:sp>
      <p:sp>
        <p:nvSpPr>
          <p:cNvPr id="135" name="Text 128"/>
          <p:cNvSpPr txBox="1"/>
          <p:nvPr/>
        </p:nvSpPr>
        <p:spPr>
          <a:xfrm>
            <a:off x="8778240" y="2340864"/>
            <a:ext cx="585216" cy="137160"/>
          </a:xfrm>
          <a:prstGeom prst="rect">
            <a:avLst/>
          </a:prstGeom>
          <a:noFill/>
          <a:ln/>
        </p:spPr>
        <p:txBody>
          <a:bodyPr wrap="square" lIns="0" tIns="0" rIns="0" bIns="0" rtlCol="0" anchor="ctr"/>
          <a:lstStyle/>
          <a:p>
            <a:pPr algn="ctr" indent="0" marL="0">
              <a:buNone/>
            </a:pPr>
            <a:r>
              <a:rPr lang="en-US" sz="630" b="1" dirty="0">
                <a:solidFill>
                  <a:srgbClr val="5B3FD9"/>
                </a:solidFill>
                <a:latin typeface="Calibri" pitchFamily="34" charset="0"/>
                <a:ea typeface="Calibri" pitchFamily="34" charset="-122"/>
                <a:cs typeface="Calibri" pitchFamily="34" charset="-120"/>
              </a:rPr>
              <a:t>SneakPeek</a:t>
            </a:r>
            <a:endParaRPr lang="en-US" sz="630" dirty="0"/>
          </a:p>
        </p:txBody>
      </p:sp>
      <p:sp>
        <p:nvSpPr>
          <p:cNvPr id="136" name="Shape 129"/>
          <p:cNvSpPr/>
          <p:nvPr/>
        </p:nvSpPr>
        <p:spPr>
          <a:xfrm>
            <a:off x="7360920" y="2697480"/>
            <a:ext cx="2048256" cy="347472"/>
          </a:xfrm>
          <a:prstGeom prst="roundRect">
            <a:avLst>
              <a:gd name="adj" fmla="val 13158"/>
            </a:avLst>
          </a:prstGeom>
          <a:solidFill>
            <a:srgbClr val="FFF9F3"/>
          </a:solidFill>
          <a:ln w="9525">
            <a:solidFill>
              <a:srgbClr val="F3E1CF"/>
            </a:solidFill>
            <a:prstDash val="solid"/>
          </a:ln>
        </p:spPr>
      </p:sp>
      <p:pic>
        <p:nvPicPr>
          <p:cNvPr id="137" name="Image 5" descr="preencoded.png">    </p:cNvPr>
          <p:cNvPicPr>
            <a:picLocks noChangeAspect="1"/>
          </p:cNvPicPr>
          <p:nvPr/>
        </p:nvPicPr>
        <p:blipFill>
          <a:blip r:embed="rId6"/>
          <a:stretch>
            <a:fillRect/>
          </a:stretch>
        </p:blipFill>
        <p:spPr>
          <a:xfrm>
            <a:off x="7415784" y="2770632"/>
            <a:ext cx="182880" cy="182880"/>
          </a:xfrm>
          <a:prstGeom prst="rect">
            <a:avLst/>
          </a:prstGeom>
        </p:spPr>
      </p:pic>
      <p:sp>
        <p:nvSpPr>
          <p:cNvPr id="138" name="Text 130"/>
          <p:cNvSpPr txBox="1"/>
          <p:nvPr/>
        </p:nvSpPr>
        <p:spPr>
          <a:xfrm>
            <a:off x="7662672" y="2724912"/>
            <a:ext cx="1097280" cy="155448"/>
          </a:xfrm>
          <a:prstGeom prst="rect">
            <a:avLst/>
          </a:prstGeom>
          <a:noFill/>
          <a:ln/>
        </p:spPr>
        <p:txBody>
          <a:bodyPr wrap="square" lIns="0" tIns="0" rIns="0" bIns="0" rtlCol="0" anchor="t"/>
          <a:lstStyle/>
          <a:p>
            <a:pPr indent="0" marL="0">
              <a:buNone/>
            </a:pPr>
            <a:r>
              <a:rPr lang="en-US" sz="800" b="1" dirty="0">
                <a:solidFill>
                  <a:srgbClr val="1F2937"/>
                </a:solidFill>
                <a:latin typeface="Calibri" pitchFamily="34" charset="0"/>
                <a:ea typeface="Calibri" pitchFamily="34" charset="-122"/>
                <a:cs typeface="Calibri" pitchFamily="34" charset="-120"/>
              </a:rPr>
              <a:t>Stock + cart</a:t>
            </a:r>
            <a:endParaRPr lang="en-US" sz="800" dirty="0"/>
          </a:p>
        </p:txBody>
      </p:sp>
      <p:sp>
        <p:nvSpPr>
          <p:cNvPr id="139" name="Text 131"/>
          <p:cNvSpPr txBox="1"/>
          <p:nvPr/>
        </p:nvSpPr>
        <p:spPr>
          <a:xfrm>
            <a:off x="7662672" y="2880360"/>
            <a:ext cx="1691640" cy="137160"/>
          </a:xfrm>
          <a:prstGeom prst="rect">
            <a:avLst/>
          </a:prstGeom>
          <a:noFill/>
          <a:ln/>
        </p:spPr>
        <p:txBody>
          <a:bodyPr wrap="square" lIns="0" tIns="0" rIns="0" bIns="0" rtlCol="0" anchor="t"/>
          <a:lstStyle/>
          <a:p>
            <a:pPr indent="0" marL="0">
              <a:buNone/>
            </a:pPr>
            <a:r>
              <a:rPr lang="en-US" sz="680" dirty="0">
                <a:solidFill>
                  <a:srgbClr val="5B6475"/>
                </a:solidFill>
                <a:latin typeface="Calibri" pitchFamily="34" charset="0"/>
                <a:ea typeface="Calibri" pitchFamily="34" charset="-122"/>
                <a:cs typeface="Calibri" pitchFamily="34" charset="-120"/>
              </a:rPr>
              <a:t>live stock · same cart as the site</a:t>
            </a:r>
            <a:endParaRPr lang="en-US" sz="680" dirty="0"/>
          </a:p>
        </p:txBody>
      </p:sp>
      <p:sp>
        <p:nvSpPr>
          <p:cNvPr id="140" name="Shape 132"/>
          <p:cNvSpPr/>
          <p:nvPr/>
        </p:nvSpPr>
        <p:spPr>
          <a:xfrm>
            <a:off x="8778240" y="2734056"/>
            <a:ext cx="585216" cy="137160"/>
          </a:xfrm>
          <a:prstGeom prst="roundRect">
            <a:avLst>
              <a:gd name="adj" fmla="val 26667"/>
            </a:avLst>
          </a:prstGeom>
          <a:solidFill>
            <a:srgbClr val="F2EFFE"/>
          </a:solidFill>
          <a:ln w="6350">
            <a:solidFill>
              <a:srgbClr val="5B3FD9"/>
            </a:solidFill>
            <a:prstDash val="solid"/>
          </a:ln>
        </p:spPr>
      </p:sp>
      <p:sp>
        <p:nvSpPr>
          <p:cNvPr id="141" name="Text 133"/>
          <p:cNvSpPr txBox="1"/>
          <p:nvPr/>
        </p:nvSpPr>
        <p:spPr>
          <a:xfrm>
            <a:off x="8778240" y="2734056"/>
            <a:ext cx="585216" cy="137160"/>
          </a:xfrm>
          <a:prstGeom prst="rect">
            <a:avLst/>
          </a:prstGeom>
          <a:noFill/>
          <a:ln/>
        </p:spPr>
        <p:txBody>
          <a:bodyPr wrap="square" lIns="0" tIns="0" rIns="0" bIns="0" rtlCol="0" anchor="ctr"/>
          <a:lstStyle/>
          <a:p>
            <a:pPr algn="ctr" indent="0" marL="0">
              <a:buNone/>
            </a:pPr>
            <a:r>
              <a:rPr lang="en-US" sz="630" b="1" dirty="0">
                <a:solidFill>
                  <a:srgbClr val="5B3FD9"/>
                </a:solidFill>
                <a:latin typeface="Calibri" pitchFamily="34" charset="0"/>
                <a:ea typeface="Calibri" pitchFamily="34" charset="-122"/>
                <a:cs typeface="Calibri" pitchFamily="34" charset="-120"/>
              </a:rPr>
              <a:t>CartUp</a:t>
            </a:r>
            <a:endParaRPr lang="en-US" sz="630" dirty="0"/>
          </a:p>
        </p:txBody>
      </p:sp>
      <p:sp>
        <p:nvSpPr>
          <p:cNvPr id="142" name="Shape 134"/>
          <p:cNvSpPr/>
          <p:nvPr/>
        </p:nvSpPr>
        <p:spPr>
          <a:xfrm>
            <a:off x="7360920" y="3090672"/>
            <a:ext cx="2048256" cy="347472"/>
          </a:xfrm>
          <a:prstGeom prst="roundRect">
            <a:avLst>
              <a:gd name="adj" fmla="val 13158"/>
            </a:avLst>
          </a:prstGeom>
          <a:solidFill>
            <a:srgbClr val="FFF9F3"/>
          </a:solidFill>
          <a:ln w="9525">
            <a:solidFill>
              <a:srgbClr val="F3E1CF"/>
            </a:solidFill>
            <a:prstDash val="solid"/>
          </a:ln>
        </p:spPr>
      </p:sp>
      <p:pic>
        <p:nvPicPr>
          <p:cNvPr id="143" name="Image 6" descr="preencoded.png">    </p:cNvPr>
          <p:cNvPicPr>
            <a:picLocks noChangeAspect="1"/>
          </p:cNvPicPr>
          <p:nvPr/>
        </p:nvPicPr>
        <p:blipFill>
          <a:blip r:embed="rId7"/>
          <a:stretch>
            <a:fillRect/>
          </a:stretch>
        </p:blipFill>
        <p:spPr>
          <a:xfrm>
            <a:off x="7415784" y="3163824"/>
            <a:ext cx="182880" cy="182880"/>
          </a:xfrm>
          <a:prstGeom prst="rect">
            <a:avLst/>
          </a:prstGeom>
        </p:spPr>
      </p:pic>
      <p:sp>
        <p:nvSpPr>
          <p:cNvPr id="144" name="Text 135"/>
          <p:cNvSpPr txBox="1"/>
          <p:nvPr/>
        </p:nvSpPr>
        <p:spPr>
          <a:xfrm>
            <a:off x="7662672" y="3118104"/>
            <a:ext cx="1097280" cy="155448"/>
          </a:xfrm>
          <a:prstGeom prst="rect">
            <a:avLst/>
          </a:prstGeom>
          <a:noFill/>
          <a:ln/>
        </p:spPr>
        <p:txBody>
          <a:bodyPr wrap="square" lIns="0" tIns="0" rIns="0" bIns="0" rtlCol="0" anchor="t"/>
          <a:lstStyle/>
          <a:p>
            <a:pPr indent="0" marL="0">
              <a:buNone/>
            </a:pPr>
            <a:r>
              <a:rPr lang="en-US" sz="800" b="1" dirty="0">
                <a:solidFill>
                  <a:srgbClr val="1F2937"/>
                </a:solidFill>
                <a:latin typeface="Calibri" pitchFamily="34" charset="0"/>
                <a:ea typeface="Calibri" pitchFamily="34" charset="-122"/>
                <a:cs typeface="Calibri" pitchFamily="34" charset="-120"/>
              </a:rPr>
              <a:t>Customer access</a:t>
            </a:r>
            <a:endParaRPr lang="en-US" sz="800" dirty="0"/>
          </a:p>
        </p:txBody>
      </p:sp>
      <p:sp>
        <p:nvSpPr>
          <p:cNvPr id="145" name="Text 136"/>
          <p:cNvSpPr txBox="1"/>
          <p:nvPr/>
        </p:nvSpPr>
        <p:spPr>
          <a:xfrm>
            <a:off x="7662672" y="3273552"/>
            <a:ext cx="1691640" cy="137160"/>
          </a:xfrm>
          <a:prstGeom prst="rect">
            <a:avLst/>
          </a:prstGeom>
          <a:noFill/>
          <a:ln/>
        </p:spPr>
        <p:txBody>
          <a:bodyPr wrap="square" lIns="0" tIns="0" rIns="0" bIns="0" rtlCol="0" anchor="t"/>
          <a:lstStyle/>
          <a:p>
            <a:pPr indent="0" marL="0">
              <a:buNone/>
            </a:pPr>
            <a:r>
              <a:rPr lang="en-US" sz="680" dirty="0">
                <a:solidFill>
                  <a:srgbClr val="5B6475"/>
                </a:solidFill>
                <a:latin typeface="Calibri" pitchFamily="34" charset="0"/>
                <a:ea typeface="Calibri" pitchFamily="34" charset="-122"/>
                <a:cs typeface="Calibri" pitchFamily="34" charset="-120"/>
              </a:rPr>
              <a:t>sign-in · card holder · Chase offers</a:t>
            </a:r>
            <a:endParaRPr lang="en-US" sz="680" dirty="0"/>
          </a:p>
        </p:txBody>
      </p:sp>
      <p:sp>
        <p:nvSpPr>
          <p:cNvPr id="146" name="Shape 137"/>
          <p:cNvSpPr/>
          <p:nvPr/>
        </p:nvSpPr>
        <p:spPr>
          <a:xfrm>
            <a:off x="8778240" y="3127248"/>
            <a:ext cx="585216" cy="137160"/>
          </a:xfrm>
          <a:prstGeom prst="roundRect">
            <a:avLst>
              <a:gd name="adj" fmla="val 26667"/>
            </a:avLst>
          </a:prstGeom>
          <a:solidFill>
            <a:srgbClr val="F2EFFE"/>
          </a:solidFill>
          <a:ln w="6350">
            <a:solidFill>
              <a:srgbClr val="5B3FD9"/>
            </a:solidFill>
            <a:prstDash val="solid"/>
          </a:ln>
        </p:spPr>
      </p:sp>
      <p:sp>
        <p:nvSpPr>
          <p:cNvPr id="147" name="Text 138"/>
          <p:cNvSpPr txBox="1"/>
          <p:nvPr/>
        </p:nvSpPr>
        <p:spPr>
          <a:xfrm>
            <a:off x="8778240" y="3127248"/>
            <a:ext cx="585216" cy="137160"/>
          </a:xfrm>
          <a:prstGeom prst="rect">
            <a:avLst/>
          </a:prstGeom>
          <a:noFill/>
          <a:ln/>
        </p:spPr>
        <p:txBody>
          <a:bodyPr wrap="square" lIns="0" tIns="0" rIns="0" bIns="0" rtlCol="0" anchor="ctr"/>
          <a:lstStyle/>
          <a:p>
            <a:pPr algn="ctr" indent="0" marL="0">
              <a:buNone/>
            </a:pPr>
            <a:r>
              <a:rPr lang="en-US" sz="630" b="1" dirty="0">
                <a:solidFill>
                  <a:srgbClr val="5B3FD9"/>
                </a:solidFill>
                <a:latin typeface="Calibri" pitchFamily="34" charset="0"/>
                <a:ea typeface="Calibri" pitchFamily="34" charset="-122"/>
                <a:cs typeface="Calibri" pitchFamily="34" charset="-120"/>
              </a:rPr>
              <a:t>CartUp</a:t>
            </a:r>
            <a:endParaRPr lang="en-US" sz="630" dirty="0"/>
          </a:p>
        </p:txBody>
      </p:sp>
      <p:sp>
        <p:nvSpPr>
          <p:cNvPr id="148" name="Shape 139"/>
          <p:cNvSpPr/>
          <p:nvPr/>
        </p:nvSpPr>
        <p:spPr>
          <a:xfrm>
            <a:off x="7360920" y="3483864"/>
            <a:ext cx="2048256" cy="347472"/>
          </a:xfrm>
          <a:prstGeom prst="roundRect">
            <a:avLst>
              <a:gd name="adj" fmla="val 13158"/>
            </a:avLst>
          </a:prstGeom>
          <a:solidFill>
            <a:srgbClr val="FFF9F3"/>
          </a:solidFill>
          <a:ln w="9525">
            <a:solidFill>
              <a:srgbClr val="F3E1CF"/>
            </a:solidFill>
            <a:prstDash val="solid"/>
          </a:ln>
        </p:spPr>
      </p:sp>
      <p:pic>
        <p:nvPicPr>
          <p:cNvPr id="149" name="Image 7" descr="preencoded.png">    </p:cNvPr>
          <p:cNvPicPr>
            <a:picLocks noChangeAspect="1"/>
          </p:cNvPicPr>
          <p:nvPr/>
        </p:nvPicPr>
        <p:blipFill>
          <a:blip r:embed="rId8"/>
          <a:stretch>
            <a:fillRect/>
          </a:stretch>
        </p:blipFill>
        <p:spPr>
          <a:xfrm>
            <a:off x="7415784" y="3557016"/>
            <a:ext cx="182880" cy="182880"/>
          </a:xfrm>
          <a:prstGeom prst="rect">
            <a:avLst/>
          </a:prstGeom>
        </p:spPr>
      </p:pic>
      <p:sp>
        <p:nvSpPr>
          <p:cNvPr id="150" name="Text 140"/>
          <p:cNvSpPr txBox="1"/>
          <p:nvPr/>
        </p:nvSpPr>
        <p:spPr>
          <a:xfrm>
            <a:off x="7662672" y="3511296"/>
            <a:ext cx="1097280" cy="155448"/>
          </a:xfrm>
          <a:prstGeom prst="rect">
            <a:avLst/>
          </a:prstGeom>
          <a:noFill/>
          <a:ln/>
        </p:spPr>
        <p:txBody>
          <a:bodyPr wrap="square" lIns="0" tIns="0" rIns="0" bIns="0" rtlCol="0" anchor="t"/>
          <a:lstStyle/>
          <a:p>
            <a:pPr indent="0" marL="0">
              <a:buNone/>
            </a:pPr>
            <a:r>
              <a:rPr lang="en-US" sz="800" b="1" dirty="0">
                <a:solidFill>
                  <a:srgbClr val="1F2937"/>
                </a:solidFill>
                <a:latin typeface="Calibri" pitchFamily="34" charset="0"/>
                <a:ea typeface="Calibri" pitchFamily="34" charset="-122"/>
                <a:cs typeface="Calibri" pitchFamily="34" charset="-120"/>
              </a:rPr>
              <a:t>Checkout session</a:t>
            </a:r>
            <a:endParaRPr lang="en-US" sz="800" dirty="0"/>
          </a:p>
        </p:txBody>
      </p:sp>
      <p:sp>
        <p:nvSpPr>
          <p:cNvPr id="151" name="Text 141"/>
          <p:cNvSpPr txBox="1"/>
          <p:nvPr/>
        </p:nvSpPr>
        <p:spPr>
          <a:xfrm>
            <a:off x="7662672" y="3666744"/>
            <a:ext cx="1691640" cy="137160"/>
          </a:xfrm>
          <a:prstGeom prst="rect">
            <a:avLst/>
          </a:prstGeom>
          <a:noFill/>
          <a:ln/>
        </p:spPr>
        <p:txBody>
          <a:bodyPr wrap="square" lIns="0" tIns="0" rIns="0" bIns="0" rtlCol="0" anchor="t"/>
          <a:lstStyle/>
          <a:p>
            <a:pPr indent="0" marL="0">
              <a:buNone/>
            </a:pPr>
            <a:r>
              <a:rPr lang="en-US" sz="680" dirty="0">
                <a:solidFill>
                  <a:srgbClr val="5B6475"/>
                </a:solidFill>
                <a:latin typeface="Calibri" pitchFamily="34" charset="0"/>
                <a:ea typeface="Calibri" pitchFamily="34" charset="-122"/>
                <a:cs typeface="Calibri" pitchFamily="34" charset="-120"/>
              </a:rPr>
              <a:t>invoice · fingerprint · version</a:t>
            </a:r>
            <a:endParaRPr lang="en-US" sz="680" dirty="0"/>
          </a:p>
        </p:txBody>
      </p:sp>
      <p:sp>
        <p:nvSpPr>
          <p:cNvPr id="152" name="Shape 142"/>
          <p:cNvSpPr/>
          <p:nvPr/>
        </p:nvSpPr>
        <p:spPr>
          <a:xfrm>
            <a:off x="8778240" y="3520440"/>
            <a:ext cx="585216" cy="137160"/>
          </a:xfrm>
          <a:prstGeom prst="roundRect">
            <a:avLst>
              <a:gd name="adj" fmla="val 26667"/>
            </a:avLst>
          </a:prstGeom>
          <a:solidFill>
            <a:srgbClr val="F2EFFE"/>
          </a:solidFill>
          <a:ln w="6350">
            <a:solidFill>
              <a:srgbClr val="5B3FD9"/>
            </a:solidFill>
            <a:prstDash val="solid"/>
          </a:ln>
        </p:spPr>
      </p:sp>
      <p:sp>
        <p:nvSpPr>
          <p:cNvPr id="153" name="Text 143"/>
          <p:cNvSpPr txBox="1"/>
          <p:nvPr/>
        </p:nvSpPr>
        <p:spPr>
          <a:xfrm>
            <a:off x="8778240" y="3520440"/>
            <a:ext cx="585216" cy="137160"/>
          </a:xfrm>
          <a:prstGeom prst="rect">
            <a:avLst/>
          </a:prstGeom>
          <a:noFill/>
          <a:ln/>
        </p:spPr>
        <p:txBody>
          <a:bodyPr wrap="square" lIns="0" tIns="0" rIns="0" bIns="0" rtlCol="0" anchor="ctr"/>
          <a:lstStyle/>
          <a:p>
            <a:pPr algn="ctr" indent="0" marL="0">
              <a:buNone/>
            </a:pPr>
            <a:r>
              <a:rPr lang="en-US" sz="630" b="1" dirty="0">
                <a:solidFill>
                  <a:srgbClr val="5B3FD9"/>
                </a:solidFill>
                <a:latin typeface="Calibri" pitchFamily="34" charset="0"/>
                <a:ea typeface="Calibri" pitchFamily="34" charset="-122"/>
                <a:cs typeface="Calibri" pitchFamily="34" charset="-120"/>
              </a:rPr>
              <a:t>CartUp</a:t>
            </a:r>
            <a:endParaRPr lang="en-US" sz="630" dirty="0"/>
          </a:p>
        </p:txBody>
      </p:sp>
      <p:sp>
        <p:nvSpPr>
          <p:cNvPr id="154" name="Shape 144"/>
          <p:cNvSpPr/>
          <p:nvPr/>
        </p:nvSpPr>
        <p:spPr>
          <a:xfrm>
            <a:off x="7360920" y="3877056"/>
            <a:ext cx="2048256" cy="347472"/>
          </a:xfrm>
          <a:prstGeom prst="roundRect">
            <a:avLst>
              <a:gd name="adj" fmla="val 13158"/>
            </a:avLst>
          </a:prstGeom>
          <a:solidFill>
            <a:srgbClr val="FFF9F3"/>
          </a:solidFill>
          <a:ln w="9525">
            <a:solidFill>
              <a:srgbClr val="F3E1CF"/>
            </a:solidFill>
            <a:prstDash val="solid"/>
          </a:ln>
        </p:spPr>
      </p:sp>
      <p:pic>
        <p:nvPicPr>
          <p:cNvPr id="155" name="Image 8" descr="preencoded.png">    </p:cNvPr>
          <p:cNvPicPr>
            <a:picLocks noChangeAspect="1"/>
          </p:cNvPicPr>
          <p:nvPr/>
        </p:nvPicPr>
        <p:blipFill>
          <a:blip r:embed="rId9"/>
          <a:stretch>
            <a:fillRect/>
          </a:stretch>
        </p:blipFill>
        <p:spPr>
          <a:xfrm>
            <a:off x="7415784" y="3950208"/>
            <a:ext cx="182880" cy="182880"/>
          </a:xfrm>
          <a:prstGeom prst="rect">
            <a:avLst/>
          </a:prstGeom>
        </p:spPr>
      </p:pic>
      <p:sp>
        <p:nvSpPr>
          <p:cNvPr id="156" name="Text 145"/>
          <p:cNvSpPr txBox="1"/>
          <p:nvPr/>
        </p:nvSpPr>
        <p:spPr>
          <a:xfrm>
            <a:off x="7662672" y="3904488"/>
            <a:ext cx="1097280" cy="155448"/>
          </a:xfrm>
          <a:prstGeom prst="rect">
            <a:avLst/>
          </a:prstGeom>
          <a:noFill/>
          <a:ln/>
        </p:spPr>
        <p:txBody>
          <a:bodyPr wrap="square" lIns="0" tIns="0" rIns="0" bIns="0" rtlCol="0" anchor="t"/>
          <a:lstStyle/>
          <a:p>
            <a:pPr indent="0" marL="0">
              <a:buNone/>
            </a:pPr>
            <a:r>
              <a:rPr lang="en-US" sz="800" b="1" dirty="0">
                <a:solidFill>
                  <a:srgbClr val="1F2937"/>
                </a:solidFill>
                <a:latin typeface="Calibri" pitchFamily="34" charset="0"/>
                <a:ea typeface="Calibri" pitchFamily="34" charset="-122"/>
                <a:cs typeface="Calibri" pitchFamily="34" charset="-120"/>
              </a:rPr>
              <a:t>Consent + token</a:t>
            </a:r>
            <a:endParaRPr lang="en-US" sz="800" dirty="0"/>
          </a:p>
        </p:txBody>
      </p:sp>
      <p:sp>
        <p:nvSpPr>
          <p:cNvPr id="157" name="Text 146"/>
          <p:cNvSpPr txBox="1"/>
          <p:nvPr/>
        </p:nvSpPr>
        <p:spPr>
          <a:xfrm>
            <a:off x="7662672" y="4059936"/>
            <a:ext cx="1691640" cy="137160"/>
          </a:xfrm>
          <a:prstGeom prst="rect">
            <a:avLst/>
          </a:prstGeom>
          <a:noFill/>
          <a:ln/>
        </p:spPr>
        <p:txBody>
          <a:bodyPr wrap="square" lIns="0" tIns="0" rIns="0" bIns="0" rtlCol="0" anchor="t"/>
          <a:lstStyle/>
          <a:p>
            <a:pPr indent="0" marL="0">
              <a:buNone/>
            </a:pPr>
            <a:r>
              <a:rPr lang="en-US" sz="680" dirty="0">
                <a:solidFill>
                  <a:srgbClr val="5B6475"/>
                </a:solidFill>
                <a:latin typeface="Calibri" pitchFamily="34" charset="0"/>
                <a:ea typeface="Calibri" pitchFamily="34" charset="-122"/>
                <a:cs typeface="Calibri" pitchFamily="34" charset="-120"/>
              </a:rPr>
              <a:t>consent record · signed, single use</a:t>
            </a:r>
            <a:endParaRPr lang="en-US" sz="680" dirty="0"/>
          </a:p>
        </p:txBody>
      </p:sp>
      <p:sp>
        <p:nvSpPr>
          <p:cNvPr id="158" name="Shape 147"/>
          <p:cNvSpPr/>
          <p:nvPr/>
        </p:nvSpPr>
        <p:spPr>
          <a:xfrm>
            <a:off x="8778240" y="3913632"/>
            <a:ext cx="585216" cy="137160"/>
          </a:xfrm>
          <a:prstGeom prst="roundRect">
            <a:avLst>
              <a:gd name="adj" fmla="val 26667"/>
            </a:avLst>
          </a:prstGeom>
          <a:solidFill>
            <a:srgbClr val="F2EFFE"/>
          </a:solidFill>
          <a:ln w="6350">
            <a:solidFill>
              <a:srgbClr val="5B3FD9"/>
            </a:solidFill>
            <a:prstDash val="solid"/>
          </a:ln>
        </p:spPr>
      </p:sp>
      <p:sp>
        <p:nvSpPr>
          <p:cNvPr id="159" name="Text 148"/>
          <p:cNvSpPr txBox="1"/>
          <p:nvPr/>
        </p:nvSpPr>
        <p:spPr>
          <a:xfrm>
            <a:off x="8778240" y="3913632"/>
            <a:ext cx="585216" cy="137160"/>
          </a:xfrm>
          <a:prstGeom prst="rect">
            <a:avLst/>
          </a:prstGeom>
          <a:noFill/>
          <a:ln/>
        </p:spPr>
        <p:txBody>
          <a:bodyPr wrap="square" lIns="0" tIns="0" rIns="0" bIns="0" rtlCol="0" anchor="ctr"/>
          <a:lstStyle/>
          <a:p>
            <a:pPr algn="ctr" indent="0" marL="0">
              <a:buNone/>
            </a:pPr>
            <a:r>
              <a:rPr lang="en-US" sz="630" b="1" dirty="0">
                <a:solidFill>
                  <a:srgbClr val="5B3FD9"/>
                </a:solidFill>
                <a:latin typeface="Calibri" pitchFamily="34" charset="0"/>
                <a:ea typeface="Calibri" pitchFamily="34" charset="-122"/>
                <a:cs typeface="Calibri" pitchFamily="34" charset="-120"/>
              </a:rPr>
              <a:t>GreenLight</a:t>
            </a:r>
            <a:endParaRPr lang="en-US" sz="630" dirty="0"/>
          </a:p>
        </p:txBody>
      </p:sp>
      <p:sp>
        <p:nvSpPr>
          <p:cNvPr id="160" name="Shape 149"/>
          <p:cNvSpPr/>
          <p:nvPr/>
        </p:nvSpPr>
        <p:spPr>
          <a:xfrm>
            <a:off x="7360920" y="4270248"/>
            <a:ext cx="2048256" cy="347472"/>
          </a:xfrm>
          <a:prstGeom prst="roundRect">
            <a:avLst>
              <a:gd name="adj" fmla="val 13158"/>
            </a:avLst>
          </a:prstGeom>
          <a:solidFill>
            <a:srgbClr val="FFF9F3"/>
          </a:solidFill>
          <a:ln w="9525">
            <a:solidFill>
              <a:srgbClr val="F3E1CF"/>
            </a:solidFill>
            <a:prstDash val="solid"/>
          </a:ln>
        </p:spPr>
      </p:sp>
      <p:pic>
        <p:nvPicPr>
          <p:cNvPr id="161" name="Image 9" descr="preencoded.png">    </p:cNvPr>
          <p:cNvPicPr>
            <a:picLocks noChangeAspect="1"/>
          </p:cNvPicPr>
          <p:nvPr/>
        </p:nvPicPr>
        <p:blipFill>
          <a:blip r:embed="rId10"/>
          <a:stretch>
            <a:fillRect/>
          </a:stretch>
        </p:blipFill>
        <p:spPr>
          <a:xfrm>
            <a:off x="7415784" y="4343400"/>
            <a:ext cx="182880" cy="182880"/>
          </a:xfrm>
          <a:prstGeom prst="rect">
            <a:avLst/>
          </a:prstGeom>
        </p:spPr>
      </p:pic>
      <p:sp>
        <p:nvSpPr>
          <p:cNvPr id="162" name="Text 150"/>
          <p:cNvSpPr txBox="1"/>
          <p:nvPr/>
        </p:nvSpPr>
        <p:spPr>
          <a:xfrm>
            <a:off x="7662672" y="4297680"/>
            <a:ext cx="1097280" cy="155448"/>
          </a:xfrm>
          <a:prstGeom prst="rect">
            <a:avLst/>
          </a:prstGeom>
          <a:noFill/>
          <a:ln/>
        </p:spPr>
        <p:txBody>
          <a:bodyPr wrap="square" lIns="0" tIns="0" rIns="0" bIns="0" rtlCol="0" anchor="t"/>
          <a:lstStyle/>
          <a:p>
            <a:pPr indent="0" marL="0">
              <a:buNone/>
            </a:pPr>
            <a:r>
              <a:rPr lang="en-US" sz="800" b="1" dirty="0">
                <a:solidFill>
                  <a:srgbClr val="1F2937"/>
                </a:solidFill>
                <a:latin typeface="Calibri" pitchFamily="34" charset="0"/>
                <a:ea typeface="Calibri" pitchFamily="34" charset="-122"/>
                <a:cs typeface="Calibri" pitchFamily="34" charset="-120"/>
              </a:rPr>
              <a:t>12 checks + route</a:t>
            </a:r>
            <a:endParaRPr lang="en-US" sz="800" dirty="0"/>
          </a:p>
        </p:txBody>
      </p:sp>
      <p:sp>
        <p:nvSpPr>
          <p:cNvPr id="163" name="Text 151"/>
          <p:cNvSpPr txBox="1"/>
          <p:nvPr/>
        </p:nvSpPr>
        <p:spPr>
          <a:xfrm>
            <a:off x="7662672" y="4453128"/>
            <a:ext cx="1691640" cy="137160"/>
          </a:xfrm>
          <a:prstGeom prst="rect">
            <a:avLst/>
          </a:prstGeom>
          <a:noFill/>
          <a:ln/>
        </p:spPr>
        <p:txBody>
          <a:bodyPr wrap="square" lIns="0" tIns="0" rIns="0" bIns="0" rtlCol="0" anchor="t"/>
          <a:lstStyle/>
          <a:p>
            <a:pPr indent="0" marL="0">
              <a:buNone/>
            </a:pPr>
            <a:r>
              <a:rPr lang="en-US" sz="680" dirty="0">
                <a:solidFill>
                  <a:srgbClr val="5B6475"/>
                </a:solidFill>
                <a:latin typeface="Calibri" pitchFamily="34" charset="0"/>
                <a:ea typeface="Calibri" pitchFamily="34" charset="-122"/>
                <a:cs typeface="Calibri" pitchFamily="34" charset="-120"/>
              </a:rPr>
              <a:t>token, merchant, amount, fingerprint</a:t>
            </a:r>
            <a:endParaRPr lang="en-US" sz="680" dirty="0"/>
          </a:p>
        </p:txBody>
      </p:sp>
      <p:sp>
        <p:nvSpPr>
          <p:cNvPr id="164" name="Shape 152"/>
          <p:cNvSpPr/>
          <p:nvPr/>
        </p:nvSpPr>
        <p:spPr>
          <a:xfrm>
            <a:off x="8778240" y="4306824"/>
            <a:ext cx="585216" cy="137160"/>
          </a:xfrm>
          <a:prstGeom prst="roundRect">
            <a:avLst>
              <a:gd name="adj" fmla="val 26667"/>
            </a:avLst>
          </a:prstGeom>
          <a:solidFill>
            <a:srgbClr val="F2EFFE"/>
          </a:solidFill>
          <a:ln w="6350">
            <a:solidFill>
              <a:srgbClr val="5B3FD9"/>
            </a:solidFill>
            <a:prstDash val="solid"/>
          </a:ln>
        </p:spPr>
      </p:sp>
      <p:sp>
        <p:nvSpPr>
          <p:cNvPr id="165" name="Text 153"/>
          <p:cNvSpPr txBox="1"/>
          <p:nvPr/>
        </p:nvSpPr>
        <p:spPr>
          <a:xfrm>
            <a:off x="8778240" y="4306824"/>
            <a:ext cx="585216" cy="137160"/>
          </a:xfrm>
          <a:prstGeom prst="rect">
            <a:avLst/>
          </a:prstGeom>
          <a:noFill/>
          <a:ln/>
        </p:spPr>
        <p:txBody>
          <a:bodyPr wrap="square" lIns="0" tIns="0" rIns="0" bIns="0" rtlCol="0" anchor="ctr"/>
          <a:lstStyle/>
          <a:p>
            <a:pPr algn="ctr" indent="0" marL="0">
              <a:buNone/>
            </a:pPr>
            <a:r>
              <a:rPr lang="en-US" sz="630" b="1" dirty="0">
                <a:solidFill>
                  <a:srgbClr val="5B3FD9"/>
                </a:solidFill>
                <a:latin typeface="Calibri" pitchFamily="34" charset="0"/>
                <a:ea typeface="Calibri" pitchFamily="34" charset="-122"/>
                <a:cs typeface="Calibri" pitchFamily="34" charset="-120"/>
              </a:rPr>
              <a:t>PayIt</a:t>
            </a:r>
            <a:endParaRPr lang="en-US" sz="630" dirty="0"/>
          </a:p>
        </p:txBody>
      </p:sp>
      <p:sp>
        <p:nvSpPr>
          <p:cNvPr id="166" name="Shape 154"/>
          <p:cNvSpPr/>
          <p:nvPr/>
        </p:nvSpPr>
        <p:spPr>
          <a:xfrm>
            <a:off x="7360920" y="4663440"/>
            <a:ext cx="2048256" cy="347472"/>
          </a:xfrm>
          <a:prstGeom prst="roundRect">
            <a:avLst>
              <a:gd name="adj" fmla="val 13158"/>
            </a:avLst>
          </a:prstGeom>
          <a:solidFill>
            <a:srgbClr val="FFF9F3"/>
          </a:solidFill>
          <a:ln w="9525">
            <a:solidFill>
              <a:srgbClr val="F3E1CF"/>
            </a:solidFill>
            <a:prstDash val="solid"/>
          </a:ln>
        </p:spPr>
      </p:sp>
      <p:pic>
        <p:nvPicPr>
          <p:cNvPr id="167" name="Image 10" descr="preencoded.png">    </p:cNvPr>
          <p:cNvPicPr>
            <a:picLocks noChangeAspect="1"/>
          </p:cNvPicPr>
          <p:nvPr/>
        </p:nvPicPr>
        <p:blipFill>
          <a:blip r:embed="rId11"/>
          <a:stretch>
            <a:fillRect/>
          </a:stretch>
        </p:blipFill>
        <p:spPr>
          <a:xfrm>
            <a:off x="7415784" y="4736592"/>
            <a:ext cx="182880" cy="182880"/>
          </a:xfrm>
          <a:prstGeom prst="rect">
            <a:avLst/>
          </a:prstGeom>
        </p:spPr>
      </p:pic>
      <p:sp>
        <p:nvSpPr>
          <p:cNvPr id="168" name="Text 155"/>
          <p:cNvSpPr txBox="1"/>
          <p:nvPr/>
        </p:nvSpPr>
        <p:spPr>
          <a:xfrm>
            <a:off x="7662672" y="4690872"/>
            <a:ext cx="1097280" cy="155448"/>
          </a:xfrm>
          <a:prstGeom prst="rect">
            <a:avLst/>
          </a:prstGeom>
          <a:noFill/>
          <a:ln/>
        </p:spPr>
        <p:txBody>
          <a:bodyPr wrap="square" lIns="0" tIns="0" rIns="0" bIns="0" rtlCol="0" anchor="t"/>
          <a:lstStyle/>
          <a:p>
            <a:pPr indent="0" marL="0">
              <a:buNone/>
            </a:pPr>
            <a:r>
              <a:rPr lang="en-US" sz="800" b="1" dirty="0">
                <a:solidFill>
                  <a:srgbClr val="1F2937"/>
                </a:solidFill>
                <a:latin typeface="Calibri" pitchFamily="34" charset="0"/>
                <a:ea typeface="Calibri" pitchFamily="34" charset="-122"/>
                <a:cs typeface="Calibri" pitchFamily="34" charset="-120"/>
              </a:rPr>
              <a:t>Orders + email</a:t>
            </a:r>
            <a:endParaRPr lang="en-US" sz="800" dirty="0"/>
          </a:p>
        </p:txBody>
      </p:sp>
      <p:sp>
        <p:nvSpPr>
          <p:cNvPr id="169" name="Text 156"/>
          <p:cNvSpPr txBox="1"/>
          <p:nvPr/>
        </p:nvSpPr>
        <p:spPr>
          <a:xfrm>
            <a:off x="7662672" y="4846320"/>
            <a:ext cx="1691640" cy="137160"/>
          </a:xfrm>
          <a:prstGeom prst="rect">
            <a:avLst/>
          </a:prstGeom>
          <a:noFill/>
          <a:ln/>
        </p:spPr>
        <p:txBody>
          <a:bodyPr wrap="square" lIns="0" tIns="0" rIns="0" bIns="0" rtlCol="0" anchor="t"/>
          <a:lstStyle/>
          <a:p>
            <a:pPr indent="0" marL="0">
              <a:buNone/>
            </a:pPr>
            <a:r>
              <a:rPr lang="en-US" sz="680" dirty="0">
                <a:solidFill>
                  <a:srgbClr val="5B6475"/>
                </a:solidFill>
                <a:latin typeface="Calibri" pitchFamily="34" charset="0"/>
                <a:ea typeface="Calibri" pitchFamily="34" charset="-122"/>
                <a:cs typeface="Calibri" pitchFamily="34" charset="-120"/>
              </a:rPr>
              <a:t>created once · tracking</a:t>
            </a:r>
            <a:endParaRPr lang="en-US" sz="680" dirty="0"/>
          </a:p>
        </p:txBody>
      </p:sp>
      <p:sp>
        <p:nvSpPr>
          <p:cNvPr id="170" name="Shape 157"/>
          <p:cNvSpPr/>
          <p:nvPr/>
        </p:nvSpPr>
        <p:spPr>
          <a:xfrm>
            <a:off x="8778240" y="4700016"/>
            <a:ext cx="585216" cy="137160"/>
          </a:xfrm>
          <a:prstGeom prst="roundRect">
            <a:avLst>
              <a:gd name="adj" fmla="val 26667"/>
            </a:avLst>
          </a:prstGeom>
          <a:solidFill>
            <a:srgbClr val="F2EFFE"/>
          </a:solidFill>
          <a:ln w="6350">
            <a:solidFill>
              <a:srgbClr val="5B3FD9"/>
            </a:solidFill>
            <a:prstDash val="solid"/>
          </a:ln>
        </p:spPr>
      </p:sp>
      <p:sp>
        <p:nvSpPr>
          <p:cNvPr id="171" name="Text 158"/>
          <p:cNvSpPr txBox="1"/>
          <p:nvPr/>
        </p:nvSpPr>
        <p:spPr>
          <a:xfrm>
            <a:off x="8778240" y="4700016"/>
            <a:ext cx="585216" cy="137160"/>
          </a:xfrm>
          <a:prstGeom prst="rect">
            <a:avLst/>
          </a:prstGeom>
          <a:noFill/>
          <a:ln/>
        </p:spPr>
        <p:txBody>
          <a:bodyPr wrap="square" lIns="0" tIns="0" rIns="0" bIns="0" rtlCol="0" anchor="ctr"/>
          <a:lstStyle/>
          <a:p>
            <a:pPr algn="ctr" indent="0" marL="0">
              <a:buNone/>
            </a:pPr>
            <a:r>
              <a:rPr lang="en-US" sz="630" b="1" dirty="0">
                <a:solidFill>
                  <a:srgbClr val="5B3FD9"/>
                </a:solidFill>
                <a:latin typeface="Calibri" pitchFamily="34" charset="0"/>
                <a:ea typeface="Calibri" pitchFamily="34" charset="-122"/>
                <a:cs typeface="Calibri" pitchFamily="34" charset="-120"/>
              </a:rPr>
              <a:t>TrackIt</a:t>
            </a:r>
            <a:endParaRPr lang="en-US" sz="630" dirty="0"/>
          </a:p>
        </p:txBody>
      </p:sp>
      <p:sp>
        <p:nvSpPr>
          <p:cNvPr id="172" name="Step 8"/>
          <p:cNvSpPr/>
          <p:nvPr/>
        </p:nvSpPr>
        <p:spPr>
          <a:xfrm>
            <a:off x="9784080" y="1298448"/>
            <a:ext cx="2039112" cy="749808"/>
          </a:xfrm>
          <a:prstGeom prst="roundRect">
            <a:avLst>
              <a:gd name="adj" fmla="val 9756"/>
            </a:avLst>
          </a:prstGeom>
          <a:solidFill>
            <a:srgbClr val="FFFFFF"/>
          </a:solidFill>
          <a:ln w="12700">
            <a:solidFill>
              <a:srgbClr val="C1123A"/>
            </a:solidFill>
            <a:prstDash val="solid"/>
          </a:ln>
        </p:spPr>
      </p:sp>
      <p:sp>
        <p:nvSpPr>
          <p:cNvPr id="173" name="Shape 160"/>
          <p:cNvSpPr/>
          <p:nvPr/>
        </p:nvSpPr>
        <p:spPr>
          <a:xfrm>
            <a:off x="9848088" y="1362456"/>
            <a:ext cx="201168" cy="201168"/>
          </a:xfrm>
          <a:prstGeom prst="ellipse">
            <a:avLst/>
          </a:prstGeom>
          <a:solidFill>
            <a:srgbClr val="C1123A"/>
          </a:solidFill>
          <a:ln w="6350">
            <a:solidFill>
              <a:srgbClr val="C1123A"/>
            </a:solidFill>
            <a:prstDash val="solid"/>
          </a:ln>
        </p:spPr>
      </p:sp>
      <p:sp>
        <p:nvSpPr>
          <p:cNvPr id="174" name="Text 161"/>
          <p:cNvSpPr txBox="1"/>
          <p:nvPr/>
        </p:nvSpPr>
        <p:spPr>
          <a:xfrm>
            <a:off x="9848088" y="1362456"/>
            <a:ext cx="201168" cy="20116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8</a:t>
            </a:r>
            <a:endParaRPr lang="en-US" sz="850" dirty="0"/>
          </a:p>
        </p:txBody>
      </p:sp>
      <p:sp>
        <p:nvSpPr>
          <p:cNvPr id="175" name="Text 162"/>
          <p:cNvSpPr txBox="1"/>
          <p:nvPr/>
        </p:nvSpPr>
        <p:spPr>
          <a:xfrm>
            <a:off x="10094976" y="1353312"/>
            <a:ext cx="1673352" cy="658368"/>
          </a:xfrm>
          <a:prstGeom prst="rect">
            <a:avLst/>
          </a:prstGeom>
          <a:noFill/>
          <a:ln/>
        </p:spPr>
        <p:txBody>
          <a:bodyPr wrap="square" lIns="0" tIns="0" rIns="0" bIns="0" rtlCol="0" anchor="t"/>
          <a:lstStyle/>
          <a:p>
            <a:pPr indent="0" marL="0">
              <a:lnSpc>
                <a:spcPct val="95000"/>
              </a:lnSpc>
              <a:buNone/>
            </a:pPr>
            <a:r>
              <a:rPr lang="en-US" sz="750" b="1" dirty="0">
                <a:solidFill>
                  <a:srgbClr val="1F2937"/>
                </a:solidFill>
                <a:latin typeface="Calibri" pitchFamily="34" charset="0"/>
                <a:ea typeface="Calibri" pitchFamily="34" charset="-122"/>
                <a:cs typeface="Calibri" pitchFamily="34" charset="-120"/>
              </a:rPr>
              <a:t>PayIt asks for the authorization</a:t>
            </a:r>
            <a:pPr indent="0" marL="0">
              <a:lnSpc>
                <a:spcPct val="95000"/>
              </a:lnSpc>
              <a:buNone/>
            </a:pPr>
            <a:r>
              <a:rPr lang="en-US" sz="750" dirty="0">
                <a:solidFill>
                  <a:srgbClr val="1F2937"/>
                </a:solidFill>
                <a:latin typeface="Calibri" pitchFamily="34" charset="0"/>
                <a:ea typeface="Calibri" pitchFamily="34" charset="-122"/>
                <a:cs typeface="Calibri" pitchFamily="34" charset="-120"/>
              </a:rPr>
              <a:t> through one route: saved card → gateway; new card → payment provider (card secured + verified); Visa agent → Visa simulator.</a:t>
            </a:r>
            <a:endParaRPr lang="en-US" sz="750" dirty="0"/>
          </a:p>
        </p:txBody>
      </p:sp>
      <p:sp>
        <p:nvSpPr>
          <p:cNvPr id="176" name="Gateway / provider"/>
          <p:cNvSpPr/>
          <p:nvPr/>
        </p:nvSpPr>
        <p:spPr>
          <a:xfrm>
            <a:off x="9921240" y="2240280"/>
            <a:ext cx="1764792" cy="457200"/>
          </a:xfrm>
          <a:prstGeom prst="roundRect">
            <a:avLst>
              <a:gd name="adj" fmla="val 16000"/>
            </a:avLst>
          </a:prstGeom>
          <a:solidFill>
            <a:srgbClr val="FFFFFF"/>
          </a:solidFill>
          <a:ln w="9525">
            <a:solidFill>
              <a:srgbClr val="D3D9E4"/>
            </a:solidFill>
            <a:prstDash val="solid"/>
          </a:ln>
        </p:spPr>
      </p:sp>
      <p:pic>
        <p:nvPicPr>
          <p:cNvPr id="177" name="Image 11" descr="preencoded.png">    </p:cNvPr>
          <p:cNvPicPr>
            <a:picLocks noChangeAspect="1"/>
          </p:cNvPicPr>
          <p:nvPr/>
        </p:nvPicPr>
        <p:blipFill>
          <a:blip r:embed="rId12"/>
          <a:stretch>
            <a:fillRect/>
          </a:stretch>
        </p:blipFill>
        <p:spPr>
          <a:xfrm>
            <a:off x="9994392" y="2359152"/>
            <a:ext cx="219456" cy="219456"/>
          </a:xfrm>
          <a:prstGeom prst="rect">
            <a:avLst/>
          </a:prstGeom>
        </p:spPr>
      </p:pic>
      <p:sp>
        <p:nvSpPr>
          <p:cNvPr id="178" name="Text 164"/>
          <p:cNvSpPr txBox="1"/>
          <p:nvPr/>
        </p:nvSpPr>
        <p:spPr>
          <a:xfrm>
            <a:off x="10277856" y="2295144"/>
            <a:ext cx="1371600" cy="182880"/>
          </a:xfrm>
          <a:prstGeom prst="rect">
            <a:avLst/>
          </a:prstGeom>
          <a:noFill/>
          <a:ln/>
        </p:spPr>
        <p:txBody>
          <a:bodyPr wrap="square" lIns="0" tIns="0" rIns="0" bIns="0" rtlCol="0" anchor="t"/>
          <a:lstStyle/>
          <a:p>
            <a:pPr indent="0" marL="0">
              <a:buNone/>
            </a:pPr>
            <a:r>
              <a:rPr lang="en-US" sz="900" b="1" dirty="0">
                <a:solidFill>
                  <a:srgbClr val="1F2937"/>
                </a:solidFill>
                <a:latin typeface="Calibri" pitchFamily="34" charset="0"/>
                <a:ea typeface="Calibri" pitchFamily="34" charset="-122"/>
                <a:cs typeface="Calibri" pitchFamily="34" charset="-120"/>
              </a:rPr>
              <a:t>Gateway / provider</a:t>
            </a:r>
            <a:endParaRPr lang="en-US" sz="900" dirty="0"/>
          </a:p>
        </p:txBody>
      </p:sp>
      <p:sp>
        <p:nvSpPr>
          <p:cNvPr id="179" name="Text 165"/>
          <p:cNvSpPr txBox="1"/>
          <p:nvPr/>
        </p:nvSpPr>
        <p:spPr>
          <a:xfrm>
            <a:off x="10277856" y="2478024"/>
            <a:ext cx="1389888" cy="182880"/>
          </a:xfrm>
          <a:prstGeom prst="rect">
            <a:avLst/>
          </a:prstGeom>
          <a:noFill/>
          <a:ln/>
        </p:spPr>
        <p:txBody>
          <a:bodyPr wrap="square" lIns="0" tIns="0" rIns="0" bIns="0" rtlCol="0" anchor="t"/>
          <a:lstStyle/>
          <a:p>
            <a:pPr indent="0" marL="0">
              <a:buNone/>
            </a:pPr>
            <a:r>
              <a:rPr lang="en-US" sz="680" dirty="0">
                <a:solidFill>
                  <a:srgbClr val="5B6475"/>
                </a:solidFill>
                <a:latin typeface="Calibri" pitchFamily="34" charset="0"/>
                <a:ea typeface="Calibri" pitchFamily="34" charset="-122"/>
                <a:cs typeface="Calibri" pitchFamily="34" charset="-120"/>
              </a:rPr>
              <a:t>receives the charge request</a:t>
            </a:r>
            <a:endParaRPr lang="en-US" sz="680" dirty="0"/>
          </a:p>
        </p:txBody>
      </p:sp>
      <p:sp>
        <p:nvSpPr>
          <p:cNvPr id="180" name="Card network"/>
          <p:cNvSpPr/>
          <p:nvPr/>
        </p:nvSpPr>
        <p:spPr>
          <a:xfrm>
            <a:off x="9921240" y="3044952"/>
            <a:ext cx="1764792" cy="457200"/>
          </a:xfrm>
          <a:prstGeom prst="roundRect">
            <a:avLst>
              <a:gd name="adj" fmla="val 16000"/>
            </a:avLst>
          </a:prstGeom>
          <a:solidFill>
            <a:srgbClr val="FFFFFF"/>
          </a:solidFill>
          <a:ln w="9525">
            <a:solidFill>
              <a:srgbClr val="D3D9E4"/>
            </a:solidFill>
            <a:prstDash val="solid"/>
          </a:ln>
        </p:spPr>
      </p:sp>
      <p:pic>
        <p:nvPicPr>
          <p:cNvPr id="181" name="Image 12" descr="preencoded.png">    </p:cNvPr>
          <p:cNvPicPr>
            <a:picLocks noChangeAspect="1"/>
          </p:cNvPicPr>
          <p:nvPr/>
        </p:nvPicPr>
        <p:blipFill>
          <a:blip r:embed="rId13"/>
          <a:stretch>
            <a:fillRect/>
          </a:stretch>
        </p:blipFill>
        <p:spPr>
          <a:xfrm>
            <a:off x="9994392" y="3163824"/>
            <a:ext cx="219456" cy="219456"/>
          </a:xfrm>
          <a:prstGeom prst="rect">
            <a:avLst/>
          </a:prstGeom>
        </p:spPr>
      </p:pic>
      <p:sp>
        <p:nvSpPr>
          <p:cNvPr id="182" name="Text 167"/>
          <p:cNvSpPr txBox="1"/>
          <p:nvPr/>
        </p:nvSpPr>
        <p:spPr>
          <a:xfrm>
            <a:off x="10277856" y="3099816"/>
            <a:ext cx="1371600" cy="182880"/>
          </a:xfrm>
          <a:prstGeom prst="rect">
            <a:avLst/>
          </a:prstGeom>
          <a:noFill/>
          <a:ln/>
        </p:spPr>
        <p:txBody>
          <a:bodyPr wrap="square" lIns="0" tIns="0" rIns="0" bIns="0" rtlCol="0" anchor="t"/>
          <a:lstStyle/>
          <a:p>
            <a:pPr indent="0" marL="0">
              <a:buNone/>
            </a:pPr>
            <a:r>
              <a:rPr lang="en-US" sz="900" b="1" dirty="0">
                <a:solidFill>
                  <a:srgbClr val="1F2937"/>
                </a:solidFill>
                <a:latin typeface="Calibri" pitchFamily="34" charset="0"/>
                <a:ea typeface="Calibri" pitchFamily="34" charset="-122"/>
                <a:cs typeface="Calibri" pitchFamily="34" charset="-120"/>
              </a:rPr>
              <a:t>Card network</a:t>
            </a:r>
            <a:endParaRPr lang="en-US" sz="900" dirty="0"/>
          </a:p>
        </p:txBody>
      </p:sp>
      <p:sp>
        <p:nvSpPr>
          <p:cNvPr id="183" name="Text 168"/>
          <p:cNvSpPr txBox="1"/>
          <p:nvPr/>
        </p:nvSpPr>
        <p:spPr>
          <a:xfrm>
            <a:off x="10277856" y="3282696"/>
            <a:ext cx="1389888" cy="182880"/>
          </a:xfrm>
          <a:prstGeom prst="rect">
            <a:avLst/>
          </a:prstGeom>
          <a:noFill/>
          <a:ln/>
        </p:spPr>
        <p:txBody>
          <a:bodyPr wrap="square" lIns="0" tIns="0" rIns="0" bIns="0" rtlCol="0" anchor="t"/>
          <a:lstStyle/>
          <a:p>
            <a:pPr indent="0" marL="0">
              <a:buNone/>
            </a:pPr>
            <a:r>
              <a:rPr lang="en-US" sz="680" dirty="0">
                <a:solidFill>
                  <a:srgbClr val="5B6475"/>
                </a:solidFill>
                <a:latin typeface="Calibri" pitchFamily="34" charset="0"/>
                <a:ea typeface="Calibri" pitchFamily="34" charset="-122"/>
                <a:cs typeface="Calibri" pitchFamily="34" charset="-120"/>
              </a:rPr>
              <a:t>Visa · Mastercard · Amex · Discover</a:t>
            </a:r>
            <a:endParaRPr lang="en-US" sz="680" dirty="0"/>
          </a:p>
        </p:txBody>
      </p:sp>
      <p:sp>
        <p:nvSpPr>
          <p:cNvPr id="184" name="Issuer bank"/>
          <p:cNvSpPr/>
          <p:nvPr/>
        </p:nvSpPr>
        <p:spPr>
          <a:xfrm>
            <a:off x="9921240" y="3849624"/>
            <a:ext cx="1764792" cy="457200"/>
          </a:xfrm>
          <a:prstGeom prst="roundRect">
            <a:avLst>
              <a:gd name="adj" fmla="val 16000"/>
            </a:avLst>
          </a:prstGeom>
          <a:solidFill>
            <a:srgbClr val="FFFFFF"/>
          </a:solidFill>
          <a:ln w="9525">
            <a:solidFill>
              <a:srgbClr val="D3D9E4"/>
            </a:solidFill>
            <a:prstDash val="solid"/>
          </a:ln>
        </p:spPr>
      </p:sp>
      <p:pic>
        <p:nvPicPr>
          <p:cNvPr id="185" name="Image 13" descr="preencoded.png">    </p:cNvPr>
          <p:cNvPicPr>
            <a:picLocks noChangeAspect="1"/>
          </p:cNvPicPr>
          <p:nvPr/>
        </p:nvPicPr>
        <p:blipFill>
          <a:blip r:embed="rId14"/>
          <a:stretch>
            <a:fillRect/>
          </a:stretch>
        </p:blipFill>
        <p:spPr>
          <a:xfrm>
            <a:off x="9994392" y="3968496"/>
            <a:ext cx="219456" cy="219456"/>
          </a:xfrm>
          <a:prstGeom prst="rect">
            <a:avLst/>
          </a:prstGeom>
        </p:spPr>
      </p:pic>
      <p:sp>
        <p:nvSpPr>
          <p:cNvPr id="186" name="Text 170"/>
          <p:cNvSpPr txBox="1"/>
          <p:nvPr/>
        </p:nvSpPr>
        <p:spPr>
          <a:xfrm>
            <a:off x="10277856" y="3904488"/>
            <a:ext cx="1371600" cy="182880"/>
          </a:xfrm>
          <a:prstGeom prst="rect">
            <a:avLst/>
          </a:prstGeom>
          <a:noFill/>
          <a:ln/>
        </p:spPr>
        <p:txBody>
          <a:bodyPr wrap="square" lIns="0" tIns="0" rIns="0" bIns="0" rtlCol="0" anchor="t"/>
          <a:lstStyle/>
          <a:p>
            <a:pPr indent="0" marL="0">
              <a:buNone/>
            </a:pPr>
            <a:r>
              <a:rPr lang="en-US" sz="900" b="1" dirty="0">
                <a:solidFill>
                  <a:srgbClr val="1F2937"/>
                </a:solidFill>
                <a:latin typeface="Calibri" pitchFamily="34" charset="0"/>
                <a:ea typeface="Calibri" pitchFamily="34" charset="-122"/>
                <a:cs typeface="Calibri" pitchFamily="34" charset="-120"/>
              </a:rPr>
              <a:t>Issuer bank</a:t>
            </a:r>
            <a:endParaRPr lang="en-US" sz="900" dirty="0"/>
          </a:p>
        </p:txBody>
      </p:sp>
      <p:sp>
        <p:nvSpPr>
          <p:cNvPr id="187" name="Text 171"/>
          <p:cNvSpPr txBox="1"/>
          <p:nvPr/>
        </p:nvSpPr>
        <p:spPr>
          <a:xfrm>
            <a:off x="10277856" y="4087368"/>
            <a:ext cx="1389888" cy="182880"/>
          </a:xfrm>
          <a:prstGeom prst="rect">
            <a:avLst/>
          </a:prstGeom>
          <a:noFill/>
          <a:ln/>
        </p:spPr>
        <p:txBody>
          <a:bodyPr wrap="square" lIns="0" tIns="0" rIns="0" bIns="0" rtlCol="0" anchor="t"/>
          <a:lstStyle/>
          <a:p>
            <a:pPr indent="0" marL="0">
              <a:buNone/>
            </a:pPr>
            <a:r>
              <a:rPr lang="en-US" sz="680" dirty="0">
                <a:solidFill>
                  <a:srgbClr val="5B6475"/>
                </a:solidFill>
                <a:latin typeface="Calibri" pitchFamily="34" charset="0"/>
                <a:ea typeface="Calibri" pitchFamily="34" charset="-122"/>
                <a:cs typeface="Calibri" pitchFamily="34" charset="-120"/>
              </a:rPr>
              <a:t>approves or declines</a:t>
            </a:r>
            <a:endParaRPr lang="en-US" sz="680" dirty="0"/>
          </a:p>
        </p:txBody>
      </p:sp>
      <p:sp>
        <p:nvSpPr>
          <p:cNvPr id="188" name="Shape 172"/>
          <p:cNvSpPr/>
          <p:nvPr/>
        </p:nvSpPr>
        <p:spPr>
          <a:xfrm>
            <a:off x="10287000" y="2697480"/>
            <a:ext cx="0" cy="347472"/>
          </a:xfrm>
          <a:prstGeom prst="line">
            <a:avLst/>
          </a:prstGeom>
          <a:noFill/>
          <a:ln w="22225">
            <a:solidFill>
              <a:srgbClr val="C1123A"/>
            </a:solidFill>
            <a:prstDash val="solid"/>
            <a:headEnd type="triangle"/>
            <a:tailEnd type="triangle"/>
          </a:ln>
        </p:spPr>
      </p:sp>
      <p:sp>
        <p:nvSpPr>
          <p:cNvPr id="189" name="Text 173"/>
          <p:cNvSpPr txBox="1"/>
          <p:nvPr/>
        </p:nvSpPr>
        <p:spPr>
          <a:xfrm>
            <a:off x="10424160" y="2724912"/>
            <a:ext cx="1188720" cy="292608"/>
          </a:xfrm>
          <a:prstGeom prst="rect">
            <a:avLst/>
          </a:prstGeom>
          <a:noFill/>
          <a:ln/>
        </p:spPr>
        <p:txBody>
          <a:bodyPr wrap="square" lIns="0" tIns="0" rIns="0" bIns="0" rtlCol="0" anchor="t"/>
          <a:lstStyle/>
          <a:p>
            <a:pPr indent="0" marL="0">
              <a:buNone/>
            </a:pPr>
            <a:r>
              <a:rPr lang="en-US" sz="650" b="1" dirty="0">
                <a:solidFill>
                  <a:srgbClr val="C1123A"/>
                </a:solidFill>
                <a:latin typeface="Calibri" pitchFamily="34" charset="0"/>
                <a:ea typeface="Calibri" pitchFamily="34" charset="-122"/>
                <a:cs typeface="Calibri" pitchFamily="34" charset="-120"/>
              </a:rPr>
              <a:t>authorize ↓</a:t>
            </a:r>
            <a:endParaRPr lang="en-US" sz="650" dirty="0"/>
          </a:p>
          <a:p>
            <a:pPr indent="0" marL="0">
              <a:buNone/>
            </a:pPr>
            <a:r>
              <a:rPr lang="en-US" sz="650" b="1" dirty="0">
                <a:solidFill>
                  <a:srgbClr val="C1123A"/>
                </a:solidFill>
                <a:latin typeface="Calibri" pitchFamily="34" charset="0"/>
                <a:ea typeface="Calibri" pitchFamily="34" charset="-122"/>
                <a:cs typeface="Calibri" pitchFamily="34" charset="-120"/>
              </a:rPr>
              <a:t>approve / decline ↑</a:t>
            </a:r>
            <a:endParaRPr lang="en-US" sz="650" dirty="0"/>
          </a:p>
        </p:txBody>
      </p:sp>
      <p:sp>
        <p:nvSpPr>
          <p:cNvPr id="190" name="Shape 174"/>
          <p:cNvSpPr/>
          <p:nvPr/>
        </p:nvSpPr>
        <p:spPr>
          <a:xfrm>
            <a:off x="10287000" y="3502152"/>
            <a:ext cx="0" cy="347472"/>
          </a:xfrm>
          <a:prstGeom prst="line">
            <a:avLst/>
          </a:prstGeom>
          <a:noFill/>
          <a:ln w="22225">
            <a:solidFill>
              <a:srgbClr val="C1123A"/>
            </a:solidFill>
            <a:prstDash val="solid"/>
            <a:headEnd type="triangle"/>
            <a:tailEnd type="triangle"/>
          </a:ln>
        </p:spPr>
      </p:sp>
      <p:sp>
        <p:nvSpPr>
          <p:cNvPr id="191" name="Text 175"/>
          <p:cNvSpPr txBox="1"/>
          <p:nvPr/>
        </p:nvSpPr>
        <p:spPr>
          <a:xfrm>
            <a:off x="10424160" y="3529584"/>
            <a:ext cx="1188720" cy="292608"/>
          </a:xfrm>
          <a:prstGeom prst="rect">
            <a:avLst/>
          </a:prstGeom>
          <a:noFill/>
          <a:ln/>
        </p:spPr>
        <p:txBody>
          <a:bodyPr wrap="square" lIns="0" tIns="0" rIns="0" bIns="0" rtlCol="0" anchor="t"/>
          <a:lstStyle/>
          <a:p>
            <a:pPr indent="0" marL="0">
              <a:buNone/>
            </a:pPr>
            <a:r>
              <a:rPr lang="en-US" sz="650" b="1" dirty="0">
                <a:solidFill>
                  <a:srgbClr val="C1123A"/>
                </a:solidFill>
                <a:latin typeface="Calibri" pitchFamily="34" charset="0"/>
                <a:ea typeface="Calibri" pitchFamily="34" charset="-122"/>
                <a:cs typeface="Calibri" pitchFamily="34" charset="-120"/>
              </a:rPr>
              <a:t>authorize ↓</a:t>
            </a:r>
            <a:endParaRPr lang="en-US" sz="650" dirty="0"/>
          </a:p>
          <a:p>
            <a:pPr indent="0" marL="0">
              <a:buNone/>
            </a:pPr>
            <a:r>
              <a:rPr lang="en-US" sz="650" b="1" dirty="0">
                <a:solidFill>
                  <a:srgbClr val="C1123A"/>
                </a:solidFill>
                <a:latin typeface="Calibri" pitchFamily="34" charset="0"/>
                <a:ea typeface="Calibri" pitchFamily="34" charset="-122"/>
                <a:cs typeface="Calibri" pitchFamily="34" charset="-120"/>
              </a:rPr>
              <a:t>approve / decline ↑</a:t>
            </a:r>
            <a:endParaRPr lang="en-US" sz="650" dirty="0"/>
          </a:p>
        </p:txBody>
      </p:sp>
      <p:sp>
        <p:nvSpPr>
          <p:cNvPr id="192" name="Outcome note"/>
          <p:cNvSpPr/>
          <p:nvPr/>
        </p:nvSpPr>
        <p:spPr>
          <a:xfrm>
            <a:off x="9802368" y="4425696"/>
            <a:ext cx="2011680" cy="640080"/>
          </a:xfrm>
          <a:prstGeom prst="roundRect">
            <a:avLst>
              <a:gd name="adj" fmla="val 11429"/>
            </a:avLst>
          </a:prstGeom>
          <a:solidFill>
            <a:srgbClr val="FFFFFF"/>
          </a:solidFill>
          <a:ln w="9525">
            <a:solidFill>
              <a:srgbClr val="D3D9E4"/>
            </a:solidFill>
            <a:prstDash val="solid"/>
          </a:ln>
        </p:spPr>
      </p:sp>
      <p:sp>
        <p:nvSpPr>
          <p:cNvPr id="193" name="Text 177"/>
          <p:cNvSpPr txBox="1"/>
          <p:nvPr/>
        </p:nvSpPr>
        <p:spPr>
          <a:xfrm>
            <a:off x="9866376" y="4462272"/>
            <a:ext cx="1901952" cy="585216"/>
          </a:xfrm>
          <a:prstGeom prst="rect">
            <a:avLst/>
          </a:prstGeom>
          <a:noFill/>
          <a:ln/>
        </p:spPr>
        <p:txBody>
          <a:bodyPr wrap="square" lIns="0" tIns="0" rIns="0" bIns="0" rtlCol="0" anchor="t"/>
          <a:lstStyle/>
          <a:p>
            <a:pPr indent="0" marL="0">
              <a:buNone/>
            </a:pPr>
            <a:r>
              <a:rPr lang="en-US" sz="700" b="1" dirty="0">
                <a:solidFill>
                  <a:srgbClr val="1F2937"/>
                </a:solidFill>
                <a:latin typeface="Calibri" pitchFamily="34" charset="0"/>
                <a:ea typeface="Calibri" pitchFamily="34" charset="-122"/>
                <a:cs typeface="Calibri" pitchFamily="34" charset="-120"/>
              </a:rPr>
              <a:t>Approved</a:t>
            </a:r>
            <a:pPr indent="0" marL="0">
              <a:buNone/>
            </a:pPr>
            <a:r>
              <a:rPr lang="en-US" sz="700" dirty="0">
                <a:solidFill>
                  <a:srgbClr val="1F2937"/>
                </a:solidFill>
                <a:latin typeface="Calibri" pitchFamily="34" charset="0"/>
                <a:ea typeface="Calibri" pitchFamily="34" charset="-122"/>
                <a:cs typeface="Calibri" pitchFamily="34" charset="-120"/>
              </a:rPr>
              <a:t> → PayIt → TrackIt creates the order (step 9). </a:t>
            </a:r>
            <a:pPr indent="0" marL="0">
              <a:buNone/>
            </a:pPr>
            <a:r>
              <a:rPr lang="en-US" sz="700" b="1" dirty="0">
                <a:solidFill>
                  <a:srgbClr val="1F2937"/>
                </a:solidFill>
                <a:latin typeface="Calibri" pitchFamily="34" charset="0"/>
                <a:ea typeface="Calibri" pitchFamily="34" charset="-122"/>
                <a:cs typeface="Calibri" pitchFamily="34" charset="-120"/>
              </a:rPr>
              <a:t>Declined or a check fails</a:t>
            </a:r>
            <a:pPr indent="0" marL="0">
              <a:buNone/>
            </a:pPr>
            <a:r>
              <a:rPr lang="en-US" sz="700" dirty="0">
                <a:solidFill>
                  <a:srgbClr val="1F2937"/>
                </a:solidFill>
                <a:latin typeface="Calibri" pitchFamily="34" charset="0"/>
                <a:ea typeface="Calibri" pitchFamily="34" charset="-122"/>
                <a:cs typeface="Calibri" pitchFamily="34" charset="-120"/>
              </a:rPr>
              <a:t> → back to the review card, nothing charged.</a:t>
            </a:r>
            <a:endParaRPr lang="en-US" sz="700" dirty="0"/>
          </a:p>
        </p:txBody>
      </p:sp>
      <p:sp>
        <p:nvSpPr>
          <p:cNvPr id="194" name="Shape 178"/>
          <p:cNvSpPr/>
          <p:nvPr/>
        </p:nvSpPr>
        <p:spPr>
          <a:xfrm>
            <a:off x="9473184" y="2468880"/>
            <a:ext cx="448056" cy="0"/>
          </a:xfrm>
          <a:prstGeom prst="line">
            <a:avLst/>
          </a:prstGeom>
          <a:noFill/>
          <a:ln w="22225">
            <a:solidFill>
              <a:srgbClr val="C1123A"/>
            </a:solidFill>
            <a:prstDash val="solid"/>
            <a:headEnd type="triangle"/>
            <a:tailEnd type="triangle"/>
          </a:ln>
        </p:spPr>
      </p:sp>
      <p:sp>
        <p:nvSpPr>
          <p:cNvPr id="195" name="Existing customer (signed in)"/>
          <p:cNvSpPr/>
          <p:nvPr/>
        </p:nvSpPr>
        <p:spPr>
          <a:xfrm>
            <a:off x="274320" y="5248656"/>
            <a:ext cx="5788152" cy="804672"/>
          </a:xfrm>
          <a:prstGeom prst="roundRect">
            <a:avLst>
              <a:gd name="adj" fmla="val 9091"/>
            </a:avLst>
          </a:prstGeom>
          <a:solidFill>
            <a:srgbClr val="EAF7EE"/>
          </a:solidFill>
          <a:ln w="9525">
            <a:solidFill>
              <a:srgbClr val="BFE3C9"/>
            </a:solidFill>
            <a:prstDash val="solid"/>
          </a:ln>
        </p:spPr>
      </p:sp>
      <p:sp>
        <p:nvSpPr>
          <p:cNvPr id="196" name="Shape 180"/>
          <p:cNvSpPr/>
          <p:nvPr/>
        </p:nvSpPr>
        <p:spPr>
          <a:xfrm>
            <a:off x="402336" y="5394960"/>
            <a:ext cx="457200" cy="457200"/>
          </a:xfrm>
          <a:prstGeom prst="ellipse">
            <a:avLst/>
          </a:prstGeom>
          <a:solidFill>
            <a:srgbClr val="FFFFFF"/>
          </a:solidFill>
          <a:ln w="6350">
            <a:solidFill>
              <a:srgbClr val="FFFFFF"/>
            </a:solidFill>
            <a:prstDash val="solid"/>
          </a:ln>
        </p:spPr>
      </p:sp>
      <p:pic>
        <p:nvPicPr>
          <p:cNvPr id="197" name="Image 14" descr="preencoded.png">    </p:cNvPr>
          <p:cNvPicPr>
            <a:picLocks noChangeAspect="1"/>
          </p:cNvPicPr>
          <p:nvPr/>
        </p:nvPicPr>
        <p:blipFill>
          <a:blip r:embed="rId15"/>
          <a:stretch>
            <a:fillRect/>
          </a:stretch>
        </p:blipFill>
        <p:spPr>
          <a:xfrm>
            <a:off x="493776" y="5486400"/>
            <a:ext cx="274320" cy="274320"/>
          </a:xfrm>
          <a:prstGeom prst="rect">
            <a:avLst/>
          </a:prstGeom>
        </p:spPr>
      </p:pic>
      <p:sp>
        <p:nvSpPr>
          <p:cNvPr id="198" name="Text 181"/>
          <p:cNvSpPr txBox="1"/>
          <p:nvPr/>
        </p:nvSpPr>
        <p:spPr>
          <a:xfrm>
            <a:off x="1005840" y="5285232"/>
            <a:ext cx="4965192" cy="201168"/>
          </a:xfrm>
          <a:prstGeom prst="rect">
            <a:avLst/>
          </a:prstGeom>
          <a:noFill/>
          <a:ln/>
        </p:spPr>
        <p:txBody>
          <a:bodyPr wrap="square" lIns="0" tIns="0" rIns="0" bIns="0" rtlCol="0" anchor="t"/>
          <a:lstStyle/>
          <a:p>
            <a:pPr indent="0" marL="0">
              <a:buNone/>
            </a:pPr>
            <a:r>
              <a:rPr lang="en-US" sz="1050" b="1" dirty="0">
                <a:solidFill>
                  <a:srgbClr val="15803D"/>
                </a:solidFill>
                <a:latin typeface="Calibri" pitchFamily="34" charset="0"/>
                <a:ea typeface="Calibri" pitchFamily="34" charset="-122"/>
                <a:cs typeface="Calibri" pitchFamily="34" charset="-120"/>
              </a:rPr>
              <a:t>Existing customer (signed in)</a:t>
            </a:r>
            <a:endParaRPr lang="en-US" sz="1050" dirty="0"/>
          </a:p>
        </p:txBody>
      </p:sp>
      <p:sp>
        <p:nvSpPr>
          <p:cNvPr id="199" name="Text 182"/>
          <p:cNvSpPr txBox="1"/>
          <p:nvPr/>
        </p:nvSpPr>
        <p:spPr>
          <a:xfrm>
            <a:off x="1005840" y="5486400"/>
            <a:ext cx="4965192" cy="548640"/>
          </a:xfrm>
          <a:prstGeom prst="rect">
            <a:avLst/>
          </a:prstGeom>
          <a:noFill/>
          <a:ln/>
        </p:spPr>
        <p:txBody>
          <a:bodyPr wrap="square" lIns="0" tIns="0" rIns="0" bIns="0" rtlCol="0" anchor="t"/>
          <a:lstStyle/>
          <a:p>
            <a:pPr indent="0" marL="0">
              <a:spcAft>
                <a:spcPts val="100"/>
              </a:spcAft>
              <a:buNone/>
            </a:pPr>
            <a:r>
              <a:rPr lang="en-US" sz="800" b="1" dirty="0">
                <a:solidFill>
                  <a:srgbClr val="15803D"/>
                </a:solidFill>
                <a:latin typeface="Calibri" pitchFamily="34" charset="0"/>
                <a:ea typeface="Calibri" pitchFamily="34" charset="-122"/>
                <a:cs typeface="Calibri" pitchFamily="34" charset="-120"/>
              </a:rPr>
              <a:t>✓  </a:t>
            </a:r>
            <a:pPr indent="0" marL="0">
              <a:spcAft>
                <a:spcPts val="100"/>
              </a:spcAft>
              <a:buNone/>
            </a:pPr>
            <a:r>
              <a:rPr lang="en-US" sz="800" dirty="0">
                <a:solidFill>
                  <a:srgbClr val="1F2937"/>
                </a:solidFill>
                <a:latin typeface="Calibri" pitchFamily="34" charset="0"/>
                <a:ea typeface="Calibri" pitchFamily="34" charset="-122"/>
                <a:cs typeface="Calibri" pitchFamily="34" charset="-120"/>
              </a:rPr>
              <a:t>Pays with a saved card token, or the Visa agent path with a simulated passkey</a:t>
            </a:r>
            <a:endParaRPr lang="en-US" sz="800" dirty="0"/>
          </a:p>
          <a:p>
            <a:pPr indent="0" marL="0">
              <a:spcAft>
                <a:spcPts val="100"/>
              </a:spcAft>
              <a:buNone/>
            </a:pPr>
            <a:r>
              <a:rPr lang="en-US" sz="800" b="1" dirty="0">
                <a:solidFill>
                  <a:srgbClr val="15803D"/>
                </a:solidFill>
                <a:latin typeface="Calibri" pitchFamily="34" charset="0"/>
                <a:ea typeface="Calibri" pitchFamily="34" charset="-122"/>
                <a:cs typeface="Calibri" pitchFamily="34" charset="-120"/>
              </a:rPr>
              <a:t>✓  </a:t>
            </a:r>
            <a:pPr indent="0" marL="0">
              <a:spcAft>
                <a:spcPts val="100"/>
              </a:spcAft>
              <a:buNone/>
            </a:pPr>
            <a:r>
              <a:rPr lang="en-US" sz="800" dirty="0">
                <a:solidFill>
                  <a:srgbClr val="1F2937"/>
                </a:solidFill>
                <a:latin typeface="Calibri" pitchFamily="34" charset="0"/>
                <a:ea typeface="Calibri" pitchFamily="34" charset="-122"/>
                <a:cs typeface="Calibri" pitchFamily="34" charset="-120"/>
              </a:rPr>
              <a:t>Any card issuer can buy; Chase cardholders also get Chase offers and 2× points</a:t>
            </a:r>
            <a:endParaRPr lang="en-US" sz="800" dirty="0"/>
          </a:p>
          <a:p>
            <a:pPr indent="0" marL="0">
              <a:spcAft>
                <a:spcPts val="100"/>
              </a:spcAft>
              <a:buNone/>
            </a:pPr>
            <a:r>
              <a:rPr lang="en-US" sz="800" b="1" dirty="0">
                <a:solidFill>
                  <a:srgbClr val="15803D"/>
                </a:solidFill>
                <a:latin typeface="Calibri" pitchFamily="34" charset="0"/>
                <a:ea typeface="Calibri" pitchFamily="34" charset="-122"/>
                <a:cs typeface="Calibri" pitchFamily="34" charset="-120"/>
              </a:rPr>
              <a:t>✓  </a:t>
            </a:r>
            <a:pPr indent="0" marL="0">
              <a:spcAft>
                <a:spcPts val="100"/>
              </a:spcAft>
              <a:buNone/>
            </a:pPr>
            <a:r>
              <a:rPr lang="en-US" sz="800" dirty="0">
                <a:solidFill>
                  <a:srgbClr val="1F2937"/>
                </a:solidFill>
                <a:latin typeface="Calibri" pitchFamily="34" charset="0"/>
                <a:ea typeface="Calibri" pitchFamily="34" charset="-122"/>
                <a:cs typeface="Calibri" pitchFamily="34" charset="-120"/>
              </a:rPr>
              <a:t>Approves every payment; if the order changes, they approve again</a:t>
            </a:r>
            <a:endParaRPr lang="en-US" sz="800" dirty="0"/>
          </a:p>
        </p:txBody>
      </p:sp>
      <p:sp>
        <p:nvSpPr>
          <p:cNvPr id="200" name="Visitor / new customer"/>
          <p:cNvSpPr/>
          <p:nvPr/>
        </p:nvSpPr>
        <p:spPr>
          <a:xfrm>
            <a:off x="6172200" y="5248656"/>
            <a:ext cx="5742432" cy="804672"/>
          </a:xfrm>
          <a:prstGeom prst="roundRect">
            <a:avLst>
              <a:gd name="adj" fmla="val 9091"/>
            </a:avLst>
          </a:prstGeom>
          <a:solidFill>
            <a:srgbClr val="EAF0FD"/>
          </a:solidFill>
          <a:ln w="9525">
            <a:solidFill>
              <a:srgbClr val="C5D4F6"/>
            </a:solidFill>
            <a:prstDash val="solid"/>
          </a:ln>
        </p:spPr>
      </p:sp>
      <p:sp>
        <p:nvSpPr>
          <p:cNvPr id="201" name="Shape 184"/>
          <p:cNvSpPr/>
          <p:nvPr/>
        </p:nvSpPr>
        <p:spPr>
          <a:xfrm>
            <a:off x="6300216" y="5394960"/>
            <a:ext cx="457200" cy="457200"/>
          </a:xfrm>
          <a:prstGeom prst="ellipse">
            <a:avLst/>
          </a:prstGeom>
          <a:solidFill>
            <a:srgbClr val="FFFFFF"/>
          </a:solidFill>
          <a:ln w="6350">
            <a:solidFill>
              <a:srgbClr val="FFFFFF"/>
            </a:solidFill>
            <a:prstDash val="solid"/>
          </a:ln>
        </p:spPr>
      </p:sp>
      <p:pic>
        <p:nvPicPr>
          <p:cNvPr id="202" name="Image 15" descr="preencoded.png">    </p:cNvPr>
          <p:cNvPicPr>
            <a:picLocks noChangeAspect="1"/>
          </p:cNvPicPr>
          <p:nvPr/>
        </p:nvPicPr>
        <p:blipFill>
          <a:blip r:embed="rId16"/>
          <a:stretch>
            <a:fillRect/>
          </a:stretch>
        </p:blipFill>
        <p:spPr>
          <a:xfrm>
            <a:off x="6391656" y="5486400"/>
            <a:ext cx="274320" cy="274320"/>
          </a:xfrm>
          <a:prstGeom prst="rect">
            <a:avLst/>
          </a:prstGeom>
        </p:spPr>
      </p:pic>
      <p:sp>
        <p:nvSpPr>
          <p:cNvPr id="203" name="Text 185"/>
          <p:cNvSpPr txBox="1"/>
          <p:nvPr/>
        </p:nvSpPr>
        <p:spPr>
          <a:xfrm>
            <a:off x="6903720" y="5285232"/>
            <a:ext cx="4919472" cy="201168"/>
          </a:xfrm>
          <a:prstGeom prst="rect">
            <a:avLst/>
          </a:prstGeom>
          <a:noFill/>
          <a:ln/>
        </p:spPr>
        <p:txBody>
          <a:bodyPr wrap="square" lIns="0" tIns="0" rIns="0" bIns="0" rtlCol="0" anchor="t"/>
          <a:lstStyle/>
          <a:p>
            <a:pPr indent="0" marL="0">
              <a:buNone/>
            </a:pPr>
            <a:r>
              <a:rPr lang="en-US" sz="1050" b="1" dirty="0">
                <a:solidFill>
                  <a:srgbClr val="2563EB"/>
                </a:solidFill>
                <a:latin typeface="Calibri" pitchFamily="34" charset="0"/>
                <a:ea typeface="Calibri" pitchFamily="34" charset="-122"/>
                <a:cs typeface="Calibri" pitchFamily="34" charset="-120"/>
              </a:rPr>
              <a:t>Visitor / new customer</a:t>
            </a:r>
            <a:endParaRPr lang="en-US" sz="1050" dirty="0"/>
          </a:p>
        </p:txBody>
      </p:sp>
      <p:sp>
        <p:nvSpPr>
          <p:cNvPr id="204" name="Text 186"/>
          <p:cNvSpPr txBox="1"/>
          <p:nvPr/>
        </p:nvSpPr>
        <p:spPr>
          <a:xfrm>
            <a:off x="6903720" y="5486400"/>
            <a:ext cx="4919472" cy="548640"/>
          </a:xfrm>
          <a:prstGeom prst="rect">
            <a:avLst/>
          </a:prstGeom>
          <a:noFill/>
          <a:ln/>
        </p:spPr>
        <p:txBody>
          <a:bodyPr wrap="square" lIns="0" tIns="0" rIns="0" bIns="0" rtlCol="0" anchor="t"/>
          <a:lstStyle/>
          <a:p>
            <a:pPr indent="0" marL="0">
              <a:spcAft>
                <a:spcPts val="100"/>
              </a:spcAft>
              <a:buNone/>
            </a:pPr>
            <a:r>
              <a:rPr lang="en-US" sz="800" b="1" dirty="0">
                <a:solidFill>
                  <a:srgbClr val="2563EB"/>
                </a:solidFill>
                <a:latin typeface="Calibri" pitchFamily="34" charset="0"/>
                <a:ea typeface="Calibri" pitchFamily="34" charset="-122"/>
                <a:cs typeface="Calibri" pitchFamily="34" charset="-120"/>
              </a:rPr>
              <a:t>✓  </a:t>
            </a:r>
            <a:pPr indent="0" marL="0">
              <a:spcAft>
                <a:spcPts val="100"/>
              </a:spcAft>
              <a:buNone/>
            </a:pPr>
            <a:r>
              <a:rPr lang="en-US" sz="800" dirty="0">
                <a:solidFill>
                  <a:srgbClr val="1F2937"/>
                </a:solidFill>
                <a:latin typeface="Calibri" pitchFamily="34" charset="0"/>
                <a:ea typeface="Calibri" pitchFamily="34" charset="-122"/>
                <a:cs typeface="Calibri" pitchFamily="34" charset="-120"/>
              </a:rPr>
              <a:t>Browses, searches and uses the cart without an account</a:t>
            </a:r>
            <a:endParaRPr lang="en-US" sz="800" dirty="0"/>
          </a:p>
          <a:p>
            <a:pPr indent="0" marL="0">
              <a:spcAft>
                <a:spcPts val="100"/>
              </a:spcAft>
              <a:buNone/>
            </a:pPr>
            <a:r>
              <a:rPr lang="en-US" sz="800" b="1" dirty="0">
                <a:solidFill>
                  <a:srgbClr val="2563EB"/>
                </a:solidFill>
                <a:latin typeface="Calibri" pitchFamily="34" charset="0"/>
                <a:ea typeface="Calibri" pitchFamily="34" charset="-122"/>
                <a:cs typeface="Calibri" pitchFamily="34" charset="-120"/>
              </a:rPr>
              <a:t>✓  </a:t>
            </a:r>
            <a:pPr indent="0" marL="0">
              <a:spcAft>
                <a:spcPts val="100"/>
              </a:spcAft>
              <a:buNone/>
            </a:pPr>
            <a:r>
              <a:rPr lang="en-US" sz="800" dirty="0">
                <a:solidFill>
                  <a:srgbClr val="1F2937"/>
                </a:solidFill>
                <a:latin typeface="Calibri" pitchFamily="34" charset="0"/>
                <a:ea typeface="Calibri" pitchFamily="34" charset="-122"/>
                <a:cs typeface="Calibri" pitchFamily="34" charset="-120"/>
              </a:rPr>
              <a:t>Signs up inside Talkshop at checkout: name, email, password, never a card</a:t>
            </a:r>
            <a:endParaRPr lang="en-US" sz="800" dirty="0"/>
          </a:p>
          <a:p>
            <a:pPr indent="0" marL="0">
              <a:spcAft>
                <a:spcPts val="100"/>
              </a:spcAft>
              <a:buNone/>
            </a:pPr>
            <a:r>
              <a:rPr lang="en-US" sz="800" b="1" dirty="0">
                <a:solidFill>
                  <a:srgbClr val="2563EB"/>
                </a:solidFill>
                <a:latin typeface="Calibri" pitchFamily="34" charset="0"/>
                <a:ea typeface="Calibri" pitchFamily="34" charset="-122"/>
                <a:cs typeface="Calibri" pitchFamily="34" charset="-120"/>
              </a:rPr>
              <a:t>✓  </a:t>
            </a:r>
            <a:pPr indent="0" marL="0">
              <a:spcAft>
                <a:spcPts val="100"/>
              </a:spcAft>
              <a:buNone/>
            </a:pPr>
            <a:r>
              <a:rPr lang="en-US" sz="800" dirty="0">
                <a:solidFill>
                  <a:srgbClr val="1F2937"/>
                </a:solidFill>
                <a:latin typeface="Calibri" pitchFamily="34" charset="0"/>
                <a:ea typeface="Calibri" pitchFamily="34" charset="-122"/>
                <a:cs typeface="Calibri" pitchFamily="34" charset="-120"/>
              </a:rPr>
              <a:t>Pays with a new card on the Secure Payment Sheet; the AI never sees it</a:t>
            </a:r>
            <a:endParaRPr lang="en-US" sz="800" dirty="0"/>
          </a:p>
        </p:txBody>
      </p:sp>
      <p:sp>
        <p:nvSpPr>
          <p:cNvPr id="205" name="Legend"/>
          <p:cNvSpPr/>
          <p:nvPr/>
        </p:nvSpPr>
        <p:spPr>
          <a:xfrm>
            <a:off x="274320" y="6144768"/>
            <a:ext cx="11640312" cy="384048"/>
          </a:xfrm>
          <a:prstGeom prst="roundRect">
            <a:avLst>
              <a:gd name="adj" fmla="val 19048"/>
            </a:avLst>
          </a:prstGeom>
          <a:solidFill>
            <a:srgbClr val="FFFFFF"/>
          </a:solidFill>
          <a:ln w="9525">
            <a:solidFill>
              <a:srgbClr val="D5DAE3"/>
            </a:solidFill>
            <a:prstDash val="solid"/>
          </a:ln>
        </p:spPr>
      </p:sp>
      <p:sp>
        <p:nvSpPr>
          <p:cNvPr id="206" name="Text 188"/>
          <p:cNvSpPr txBox="1"/>
          <p:nvPr/>
        </p:nvSpPr>
        <p:spPr>
          <a:xfrm>
            <a:off x="384048" y="6144768"/>
            <a:ext cx="548640" cy="384048"/>
          </a:xfrm>
          <a:prstGeom prst="rect">
            <a:avLst/>
          </a:prstGeom>
          <a:noFill/>
          <a:ln/>
        </p:spPr>
        <p:txBody>
          <a:bodyPr wrap="square" lIns="0" tIns="0" rIns="0" bIns="0" rtlCol="0" anchor="ctr"/>
          <a:lstStyle/>
          <a:p>
            <a:pPr indent="0" marL="0">
              <a:buNone/>
            </a:pPr>
            <a:r>
              <a:rPr lang="en-US" sz="850" b="1" dirty="0">
                <a:solidFill>
                  <a:srgbClr val="1F2937"/>
                </a:solidFill>
                <a:latin typeface="Calibri" pitchFamily="34" charset="0"/>
                <a:ea typeface="Calibri" pitchFamily="34" charset="-122"/>
                <a:cs typeface="Calibri" pitchFamily="34" charset="-120"/>
              </a:rPr>
              <a:t>Legend</a:t>
            </a:r>
            <a:endParaRPr lang="en-US" sz="850" dirty="0"/>
          </a:p>
        </p:txBody>
      </p:sp>
      <p:sp>
        <p:nvSpPr>
          <p:cNvPr id="207" name="Shape 189"/>
          <p:cNvSpPr/>
          <p:nvPr/>
        </p:nvSpPr>
        <p:spPr>
          <a:xfrm>
            <a:off x="1005840" y="6336792"/>
            <a:ext cx="292608" cy="0"/>
          </a:xfrm>
          <a:prstGeom prst="line">
            <a:avLst/>
          </a:prstGeom>
          <a:noFill/>
          <a:ln w="25400">
            <a:solidFill>
              <a:srgbClr val="2563EB"/>
            </a:solidFill>
            <a:prstDash val="solid"/>
          </a:ln>
        </p:spPr>
      </p:sp>
      <p:sp>
        <p:nvSpPr>
          <p:cNvPr id="208" name="Text 190"/>
          <p:cNvSpPr txBox="1"/>
          <p:nvPr/>
        </p:nvSpPr>
        <p:spPr>
          <a:xfrm>
            <a:off x="1371600" y="6144768"/>
            <a:ext cx="1737360" cy="384048"/>
          </a:xfrm>
          <a:prstGeom prst="rect">
            <a:avLst/>
          </a:prstGeom>
          <a:noFill/>
          <a:ln/>
        </p:spPr>
        <p:txBody>
          <a:bodyPr wrap="square" lIns="0" tIns="0" rIns="0" bIns="0" rtlCol="0" anchor="ctr"/>
          <a:lstStyle/>
          <a:p>
            <a:pPr indent="0" marL="0">
              <a:buNone/>
            </a:pPr>
            <a:r>
              <a:rPr lang="en-US" sz="750" dirty="0">
                <a:solidFill>
                  <a:srgbClr val="1F2937"/>
                </a:solidFill>
                <a:latin typeface="Calibri" pitchFamily="34" charset="0"/>
                <a:ea typeface="Calibri" pitchFamily="34" charset="-122"/>
                <a:cs typeface="Calibri" pitchFamily="34" charset="-120"/>
              </a:rPr>
              <a:t>Shopper ⇄ Talkshop (chat + live events)</a:t>
            </a:r>
            <a:endParaRPr lang="en-US" sz="750" dirty="0"/>
          </a:p>
        </p:txBody>
      </p:sp>
      <p:sp>
        <p:nvSpPr>
          <p:cNvPr id="209" name="Shape 191"/>
          <p:cNvSpPr/>
          <p:nvPr/>
        </p:nvSpPr>
        <p:spPr>
          <a:xfrm>
            <a:off x="3108960" y="6336792"/>
            <a:ext cx="292608" cy="0"/>
          </a:xfrm>
          <a:prstGeom prst="line">
            <a:avLst/>
          </a:prstGeom>
          <a:noFill/>
          <a:ln w="25400">
            <a:solidFill>
              <a:srgbClr val="5B3FD9"/>
            </a:solidFill>
            <a:prstDash val="solid"/>
          </a:ln>
        </p:spPr>
      </p:sp>
      <p:sp>
        <p:nvSpPr>
          <p:cNvPr id="210" name="Text 192"/>
          <p:cNvSpPr txBox="1"/>
          <p:nvPr/>
        </p:nvSpPr>
        <p:spPr>
          <a:xfrm>
            <a:off x="3474720" y="6144768"/>
            <a:ext cx="1325880" cy="384048"/>
          </a:xfrm>
          <a:prstGeom prst="rect">
            <a:avLst/>
          </a:prstGeom>
          <a:noFill/>
          <a:ln/>
        </p:spPr>
        <p:txBody>
          <a:bodyPr wrap="square" lIns="0" tIns="0" rIns="0" bIns="0" rtlCol="0" anchor="ctr"/>
          <a:lstStyle/>
          <a:p>
            <a:pPr indent="0" marL="0">
              <a:buNone/>
            </a:pPr>
            <a:r>
              <a:rPr lang="en-US" sz="750" dirty="0">
                <a:solidFill>
                  <a:srgbClr val="1F2937"/>
                </a:solidFill>
                <a:latin typeface="Calibri" pitchFamily="34" charset="0"/>
                <a:ea typeface="Calibri" pitchFamily="34" charset="-122"/>
                <a:cs typeface="Calibri" pitchFamily="34" charset="-120"/>
              </a:rPr>
              <a:t>Agent → ShopSphere services</a:t>
            </a:r>
            <a:endParaRPr lang="en-US" sz="750" dirty="0"/>
          </a:p>
        </p:txBody>
      </p:sp>
      <p:sp>
        <p:nvSpPr>
          <p:cNvPr id="211" name="Shape 193"/>
          <p:cNvSpPr/>
          <p:nvPr/>
        </p:nvSpPr>
        <p:spPr>
          <a:xfrm>
            <a:off x="4800600" y="6336792"/>
            <a:ext cx="292608" cy="0"/>
          </a:xfrm>
          <a:prstGeom prst="line">
            <a:avLst/>
          </a:prstGeom>
          <a:noFill/>
          <a:ln w="25400">
            <a:solidFill>
              <a:srgbClr val="15803D"/>
            </a:solidFill>
            <a:prstDash val="solid"/>
          </a:ln>
        </p:spPr>
      </p:sp>
      <p:sp>
        <p:nvSpPr>
          <p:cNvPr id="212" name="Text 194"/>
          <p:cNvSpPr txBox="1"/>
          <p:nvPr/>
        </p:nvSpPr>
        <p:spPr>
          <a:xfrm>
            <a:off x="5166360" y="6144768"/>
            <a:ext cx="1097280" cy="384048"/>
          </a:xfrm>
          <a:prstGeom prst="rect">
            <a:avLst/>
          </a:prstGeom>
          <a:noFill/>
          <a:ln/>
        </p:spPr>
        <p:txBody>
          <a:bodyPr wrap="square" lIns="0" tIns="0" rIns="0" bIns="0" rtlCol="0" anchor="ctr"/>
          <a:lstStyle/>
          <a:p>
            <a:pPr indent="0" marL="0">
              <a:buNone/>
            </a:pPr>
            <a:r>
              <a:rPr lang="en-US" sz="750" dirty="0">
                <a:solidFill>
                  <a:srgbClr val="1F2937"/>
                </a:solidFill>
                <a:latin typeface="Calibri" pitchFamily="34" charset="0"/>
                <a:ea typeface="Calibri" pitchFamily="34" charset="-122"/>
                <a:cs typeface="Calibri" pitchFamily="34" charset="-120"/>
              </a:rPr>
              <a:t>Approval + signed token</a:t>
            </a:r>
            <a:endParaRPr lang="en-US" sz="750" dirty="0"/>
          </a:p>
        </p:txBody>
      </p:sp>
      <p:sp>
        <p:nvSpPr>
          <p:cNvPr id="213" name="Shape 195"/>
          <p:cNvSpPr/>
          <p:nvPr/>
        </p:nvSpPr>
        <p:spPr>
          <a:xfrm>
            <a:off x="6263640" y="6336792"/>
            <a:ext cx="292608" cy="0"/>
          </a:xfrm>
          <a:prstGeom prst="line">
            <a:avLst/>
          </a:prstGeom>
          <a:noFill/>
          <a:ln w="25400">
            <a:solidFill>
              <a:srgbClr val="C1123A"/>
            </a:solidFill>
            <a:prstDash val="solid"/>
          </a:ln>
        </p:spPr>
      </p:sp>
      <p:sp>
        <p:nvSpPr>
          <p:cNvPr id="214" name="Text 196"/>
          <p:cNvSpPr txBox="1"/>
          <p:nvPr/>
        </p:nvSpPr>
        <p:spPr>
          <a:xfrm>
            <a:off x="6629400" y="6144768"/>
            <a:ext cx="1325880" cy="384048"/>
          </a:xfrm>
          <a:prstGeom prst="rect">
            <a:avLst/>
          </a:prstGeom>
          <a:noFill/>
          <a:ln/>
        </p:spPr>
        <p:txBody>
          <a:bodyPr wrap="square" lIns="0" tIns="0" rIns="0" bIns="0" rtlCol="0" anchor="ctr"/>
          <a:lstStyle/>
          <a:p>
            <a:pPr indent="0" marL="0">
              <a:buNone/>
            </a:pPr>
            <a:r>
              <a:rPr lang="en-US" sz="750" dirty="0">
                <a:solidFill>
                  <a:srgbClr val="1F2937"/>
                </a:solidFill>
                <a:latin typeface="Calibri" pitchFamily="34" charset="0"/>
                <a:ea typeface="Calibri" pitchFamily="34" charset="-122"/>
                <a:cs typeface="Calibri" pitchFamily="34" charset="-120"/>
              </a:rPr>
              <a:t>Payment: authorize / approve</a:t>
            </a:r>
            <a:endParaRPr lang="en-US" sz="750" dirty="0"/>
          </a:p>
        </p:txBody>
      </p:sp>
      <p:sp>
        <p:nvSpPr>
          <p:cNvPr id="215" name="Shape 197"/>
          <p:cNvSpPr/>
          <p:nvPr/>
        </p:nvSpPr>
        <p:spPr>
          <a:xfrm>
            <a:off x="7955280" y="6272784"/>
            <a:ext cx="274320" cy="128016"/>
          </a:xfrm>
          <a:prstGeom prst="roundRect">
            <a:avLst>
              <a:gd name="adj" fmla="val 28571"/>
            </a:avLst>
          </a:prstGeom>
          <a:solidFill>
            <a:srgbClr val="E4572E"/>
          </a:solidFill>
          <a:ln w="12700">
            <a:solidFill>
              <a:srgbClr val="E4572E"/>
            </a:solidFill>
            <a:prstDash val="solid"/>
          </a:ln>
        </p:spPr>
      </p:sp>
      <p:sp>
        <p:nvSpPr>
          <p:cNvPr id="216" name="Text 198"/>
          <p:cNvSpPr txBox="1"/>
          <p:nvPr/>
        </p:nvSpPr>
        <p:spPr>
          <a:xfrm>
            <a:off x="8321040" y="6144768"/>
            <a:ext cx="1828800" cy="384048"/>
          </a:xfrm>
          <a:prstGeom prst="rect">
            <a:avLst/>
          </a:prstGeom>
          <a:noFill/>
          <a:ln/>
        </p:spPr>
        <p:txBody>
          <a:bodyPr wrap="square" lIns="0" tIns="0" rIns="0" bIns="0" rtlCol="0" anchor="ctr"/>
          <a:lstStyle/>
          <a:p>
            <a:pPr indent="0" marL="0">
              <a:buNone/>
            </a:pPr>
            <a:r>
              <a:rPr lang="en-US" sz="750" dirty="0">
                <a:solidFill>
                  <a:srgbClr val="1F2937"/>
                </a:solidFill>
                <a:latin typeface="Calibri" pitchFamily="34" charset="0"/>
                <a:ea typeface="Calibri" pitchFamily="34" charset="-122"/>
                <a:cs typeface="Calibri" pitchFamily="34" charset="-120"/>
              </a:rPr>
              <a:t>AI tag = uses the AI model (wording only)</a:t>
            </a:r>
            <a:endParaRPr lang="en-US" sz="750" dirty="0"/>
          </a:p>
        </p:txBody>
      </p:sp>
      <p:sp>
        <p:nvSpPr>
          <p:cNvPr id="217" name="Text 199"/>
          <p:cNvSpPr txBox="1"/>
          <p:nvPr/>
        </p:nvSpPr>
        <p:spPr>
          <a:xfrm>
            <a:off x="10149840" y="6144768"/>
            <a:ext cx="1737360" cy="384048"/>
          </a:xfrm>
          <a:prstGeom prst="rect">
            <a:avLst/>
          </a:prstGeom>
          <a:noFill/>
          <a:ln/>
        </p:spPr>
        <p:txBody>
          <a:bodyPr wrap="square" lIns="0" tIns="0" rIns="0" bIns="0" rtlCol="0" anchor="ctr"/>
          <a:lstStyle/>
          <a:p>
            <a:pPr indent="0" marL="0">
              <a:buNone/>
            </a:pPr>
            <a:r>
              <a:rPr lang="en-US" sz="750" dirty="0">
                <a:solidFill>
                  <a:srgbClr val="5B6475"/>
                </a:solidFill>
                <a:latin typeface="Calibri" pitchFamily="34" charset="0"/>
                <a:ea typeface="Calibri" pitchFamily="34" charset="-122"/>
                <a:cs typeface="Calibri" pitchFamily="34" charset="-120"/>
              </a:rPr>
              <a:t>⇄ double arrow = request + response</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Talkshop Agent Architecture</dc:title>
  <dc:subject>PptxGenJS Presentation</dc:subject>
  <dc:creator>Kaajal Krishnamurthy</dc:creator>
  <cp:lastModifiedBy>Kaajal Krishnamurthy</cp:lastModifiedBy>
  <cp:revision>1</cp:revision>
  <dcterms:created xsi:type="dcterms:W3CDTF">2026-10-19T16:56:49Z</dcterms:created>
  <dcterms:modified xsi:type="dcterms:W3CDTF">2026-10-19T16:56:49Z</dcterms:modified>
</cp:coreProperties>
</file>